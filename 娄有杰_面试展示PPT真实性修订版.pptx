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 showGuide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4" Type="http://schemas.openxmlformats.org/officeDocument/2006/relationships/tableStyles" Target="tableStyles.xml"/><Relationship Id="rId13" Type="http://schemas.openxmlformats.org/officeDocument/2006/relationships/viewProps" Target="viewProps.xml"/><Relationship Id="rId12" Type="http://schemas.openxmlformats.org/officeDocument/2006/relationships/presProps" Target="presProps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7" Type="http://schemas.openxmlformats.org/officeDocument/2006/relationships/slideLayout" Target="../slideLayouts/slideLayout7.xml"/><Relationship Id="rId16" Type="http://schemas.openxmlformats.org/officeDocument/2006/relationships/tags" Target="../tags/tag16.xml"/><Relationship Id="rId15" Type="http://schemas.openxmlformats.org/officeDocument/2006/relationships/tags" Target="../tags/tag15.xml"/><Relationship Id="rId14" Type="http://schemas.openxmlformats.org/officeDocument/2006/relationships/tags" Target="../tags/tag14.xml"/><Relationship Id="rId13" Type="http://schemas.openxmlformats.org/officeDocument/2006/relationships/tags" Target="../tags/tag13.xml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21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D7B1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053328"/>
            <a:ext cx="12191695" cy="804672"/>
          </a:xfrm>
          <a:prstGeom prst="rect">
            <a:avLst/>
          </a:prstGeom>
          <a:solidFill>
            <a:srgbClr val="0A30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389888"/>
            <a:ext cx="53035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微软雅黑" panose="020B0503020204020204" charset="-122"/>
              </a:rPr>
              <a:t>个人陈述</a:t>
            </a:r>
            <a:endParaRPr sz="38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822960" y="2121408"/>
            <a:ext cx="4937760" cy="27432"/>
          </a:xfrm>
          <a:prstGeom prst="rect">
            <a:avLst/>
          </a:prstGeom>
          <a:solidFill>
            <a:srgbClr val="D7B1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267712"/>
            <a:ext cx="4937760" cy="3524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EEDAA6"/>
                </a:solidFill>
                <a:latin typeface="微软雅黑" panose="020B0503020204020204" charset="-122"/>
              </a:rPr>
              <a:t>推免研究生线上沟通汇报</a:t>
            </a:r>
            <a:endParaRPr sz="1700" b="1">
              <a:solidFill>
                <a:srgbClr val="EEDAA6"/>
              </a:solidFill>
              <a:latin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22960" y="2816352"/>
            <a:ext cx="55778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微软雅黑" panose="020B0503020204020204" charset="-122"/>
              </a:rPr>
              <a:t>娄有杰 | 兰州理工大学 计算机与人工智能学院 软件工程</a:t>
            </a:r>
            <a:endParaRPr sz="1500" b="0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22960" y="3218688"/>
            <a:ext cx="5669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>
                <a:solidFill>
                  <a:srgbClr val="EEDAA6"/>
                </a:solidFill>
                <a:latin typeface="微软雅黑" panose="020B0503020204020204" charset="-122"/>
              </a:rPr>
              <a:t>申请意向：北京理工大学（珠海）计算机技术 / 人工智能方向</a:t>
            </a:r>
            <a:endParaRPr sz="1350" b="0">
              <a:solidFill>
                <a:srgbClr val="EEDAA6"/>
              </a:solidFill>
              <a:latin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822960" y="6309360"/>
            <a:ext cx="4937760" cy="2603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微软雅黑" panose="020B0503020204020204" charset="-122"/>
              </a:rPr>
              <a:t>2026年6月29日</a:t>
            </a:r>
            <a:endParaRPr sz="1100" b="0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5897880" y="6309360"/>
            <a:ext cx="5806440" cy="2374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0">
                <a:solidFill>
                  <a:srgbClr val="EEDAA6"/>
                </a:solidFill>
                <a:latin typeface="微软雅黑" panose="020B0503020204020204" charset="-122"/>
              </a:rPr>
              <a:t>邮箱：yi05up11@163.com</a:t>
            </a:r>
            <a:r>
              <a:rPr lang="en-US" sz="950" b="0">
                <a:solidFill>
                  <a:srgbClr val="EEDAA6"/>
                </a:solidFill>
                <a:latin typeface="微软雅黑" panose="020B0503020204020204" charset="-122"/>
              </a:rPr>
              <a:t> </a:t>
            </a:r>
            <a:r>
              <a:rPr sz="950" b="0">
                <a:solidFill>
                  <a:srgbClr val="EEDAA6"/>
                </a:solidFill>
                <a:latin typeface="微软雅黑" panose="020B0503020204020204" charset="-122"/>
              </a:rPr>
              <a:t>   电话：155-1611-0836</a:t>
            </a:r>
            <a:endParaRPr sz="950" b="0">
              <a:solidFill>
                <a:srgbClr val="EEDAA6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94360" y="640080"/>
            <a:ext cx="2057400" cy="5440680"/>
          </a:xfrm>
          <a:prstGeom prst="rect">
            <a:avLst/>
          </a:prstGeom>
          <a:solidFill>
            <a:srgbClr val="0721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868680"/>
            <a:ext cx="1691640" cy="4983480"/>
          </a:xfrm>
          <a:prstGeom prst="rect">
            <a:avLst/>
          </a:prstGeom>
          <a:solidFill>
            <a:srgbClr val="072146"/>
          </a:solidFill>
          <a:ln w="12700">
            <a:solidFill>
              <a:srgbClr val="D7B1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5568" y="1975104"/>
            <a:ext cx="1051560" cy="1600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700" b="1">
                <a:solidFill>
                  <a:srgbClr val="FFFFFF"/>
                </a:solidFill>
                <a:latin typeface="微软雅黑" panose="020B0503020204020204" charset="-122"/>
              </a:rPr>
              <a:t>目
录</a:t>
            </a:r>
            <a:endParaRPr sz="37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060704" y="3730752"/>
            <a:ext cx="113385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>
                <a:solidFill>
                  <a:srgbClr val="EEDAA6"/>
                </a:solidFill>
                <a:latin typeface="微软雅黑" panose="020B0503020204020204" charset="-122"/>
              </a:rPr>
              <a:t>CONTENTS</a:t>
            </a:r>
            <a:endParaRPr sz="950" b="0">
              <a:solidFill>
                <a:srgbClr val="EEDAA6"/>
              </a:solidFill>
              <a:latin typeface="微软雅黑" panose="020B0503020204020204" charset="-122"/>
            </a:endParaRPr>
          </a:p>
        </p:txBody>
      </p:sp>
      <p:sp>
        <p:nvSpPr>
          <p:cNvPr id="7" name="TextBox 6"/>
          <p:cNvSpPr txBox="1"/>
          <p:nvPr>
            <p:custDataLst>
              <p:tags r:id="rId1"/>
            </p:custDataLst>
          </p:nvPr>
        </p:nvSpPr>
        <p:spPr>
          <a:xfrm>
            <a:off x="3429000" y="1170432"/>
            <a:ext cx="71323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BEBEBE"/>
                </a:solidFill>
                <a:latin typeface="微软雅黑" panose="020B0503020204020204" charset="-122"/>
              </a:rPr>
              <a:t>01</a:t>
            </a:r>
            <a:endParaRPr sz="2800" b="1">
              <a:solidFill>
                <a:srgbClr val="BEBEBE"/>
              </a:solidFill>
              <a:latin typeface="微软雅黑" panose="020B0503020204020204" charset="-122"/>
            </a:endParaRPr>
          </a:p>
        </p:txBody>
      </p:sp>
      <p:sp>
        <p:nvSpPr>
          <p:cNvPr id="8" name="TextBox 7"/>
          <p:cNvSpPr txBox="1"/>
          <p:nvPr>
            <p:custDataLst>
              <p:tags r:id="rId2"/>
            </p:custDataLst>
          </p:nvPr>
        </p:nvSpPr>
        <p:spPr>
          <a:xfrm>
            <a:off x="4160520" y="1225296"/>
            <a:ext cx="1828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72146"/>
                </a:solidFill>
                <a:latin typeface="微软雅黑" panose="020B0503020204020204" charset="-122"/>
              </a:rPr>
              <a:t>教育背景</a:t>
            </a:r>
            <a:endParaRPr sz="2000" b="1">
              <a:solidFill>
                <a:srgbClr val="072146"/>
              </a:solidFill>
              <a:latin typeface="微软雅黑" panose="020B0503020204020204" charset="-122"/>
            </a:endParaRPr>
          </a:p>
        </p:txBody>
      </p:sp>
      <p:sp>
        <p:nvSpPr>
          <p:cNvPr id="9" name="TextBox 8"/>
          <p:cNvSpPr txBox="1"/>
          <p:nvPr>
            <p:custDataLst>
              <p:tags r:id="rId3"/>
            </p:custDataLst>
          </p:nvPr>
        </p:nvSpPr>
        <p:spPr>
          <a:xfrm>
            <a:off x="5897880" y="1280160"/>
            <a:ext cx="4526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06770"/>
                </a:solidFill>
                <a:latin typeface="微软雅黑" panose="020B0503020204020204" charset="-122"/>
              </a:rPr>
              <a:t>专业排名、课程基础、英语与荣誉</a:t>
            </a:r>
            <a:endParaRPr sz="1200" b="0">
              <a:solidFill>
                <a:srgbClr val="606770"/>
              </a:solidFill>
              <a:latin typeface="微软雅黑" panose="020B0503020204020204" charset="-122"/>
            </a:endParaRPr>
          </a:p>
        </p:txBody>
      </p:sp>
      <p:sp>
        <p:nvSpPr>
          <p:cNvPr id="10" name="Rectangle 9"/>
          <p:cNvSpPr/>
          <p:nvPr>
            <p:custDataLst>
              <p:tags r:id="rId4"/>
            </p:custDataLst>
          </p:nvPr>
        </p:nvSpPr>
        <p:spPr>
          <a:xfrm>
            <a:off x="3429000" y="1828800"/>
            <a:ext cx="7269480" cy="13716"/>
          </a:xfrm>
          <a:prstGeom prst="rect">
            <a:avLst/>
          </a:prstGeom>
          <a:solidFill>
            <a:srgbClr val="DADA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>
            <p:custDataLst>
              <p:tags r:id="rId5"/>
            </p:custDataLst>
          </p:nvPr>
        </p:nvSpPr>
        <p:spPr>
          <a:xfrm>
            <a:off x="3429000" y="2313432"/>
            <a:ext cx="71323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BEBEBE"/>
                </a:solidFill>
                <a:latin typeface="微软雅黑" panose="020B0503020204020204" charset="-122"/>
              </a:rPr>
              <a:t>02</a:t>
            </a:r>
            <a:endParaRPr sz="2800" b="1">
              <a:solidFill>
                <a:srgbClr val="BEBEBE"/>
              </a:solidFill>
              <a:latin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>
            <p:custDataLst>
              <p:tags r:id="rId6"/>
            </p:custDataLst>
          </p:nvPr>
        </p:nvSpPr>
        <p:spPr>
          <a:xfrm>
            <a:off x="4160520" y="2368296"/>
            <a:ext cx="1828800" cy="3987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zh-CN" sz="2000" b="1">
                <a:solidFill>
                  <a:srgbClr val="072146"/>
                </a:solidFill>
                <a:latin typeface="微软雅黑" panose="020B0503020204020204" charset="-122"/>
              </a:rPr>
              <a:t>项目</a:t>
            </a:r>
            <a:r>
              <a:rPr sz="2000" b="1">
                <a:solidFill>
                  <a:srgbClr val="072146"/>
                </a:solidFill>
                <a:latin typeface="微软雅黑" panose="020B0503020204020204" charset="-122"/>
              </a:rPr>
              <a:t>经历</a:t>
            </a:r>
            <a:endParaRPr sz="2000" b="1">
              <a:solidFill>
                <a:srgbClr val="072146"/>
              </a:solidFill>
              <a:latin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>
            <p:custDataLst>
              <p:tags r:id="rId7"/>
            </p:custDataLst>
          </p:nvPr>
        </p:nvSpPr>
        <p:spPr>
          <a:xfrm>
            <a:off x="5897880" y="2423160"/>
            <a:ext cx="4526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06770"/>
                </a:solidFill>
                <a:latin typeface="微软雅黑" panose="020B0503020204020204" charset="-122"/>
              </a:rPr>
              <a:t>国家级大创：异常理解与可信问答评测</a:t>
            </a:r>
            <a:endParaRPr sz="1200" b="0">
              <a:solidFill>
                <a:srgbClr val="606770"/>
              </a:solidFill>
              <a:latin typeface="微软雅黑" panose="020B0503020204020204" charset="-122"/>
            </a:endParaRPr>
          </a:p>
        </p:txBody>
      </p:sp>
      <p:sp>
        <p:nvSpPr>
          <p:cNvPr id="14" name="Rectangle 13"/>
          <p:cNvSpPr/>
          <p:nvPr>
            <p:custDataLst>
              <p:tags r:id="rId8"/>
            </p:custDataLst>
          </p:nvPr>
        </p:nvSpPr>
        <p:spPr>
          <a:xfrm>
            <a:off x="3429000" y="2971800"/>
            <a:ext cx="7269480" cy="13716"/>
          </a:xfrm>
          <a:prstGeom prst="rect">
            <a:avLst/>
          </a:prstGeom>
          <a:solidFill>
            <a:srgbClr val="DADA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>
            <p:custDataLst>
              <p:tags r:id="rId9"/>
            </p:custDataLst>
          </p:nvPr>
        </p:nvSpPr>
        <p:spPr>
          <a:xfrm>
            <a:off x="3429000" y="3456432"/>
            <a:ext cx="71323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BEBEBE"/>
                </a:solidFill>
                <a:latin typeface="微软雅黑" panose="020B0503020204020204" charset="-122"/>
              </a:rPr>
              <a:t>03</a:t>
            </a:r>
            <a:endParaRPr sz="2800" b="1">
              <a:solidFill>
                <a:srgbClr val="BEBEBE"/>
              </a:solidFill>
              <a:latin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>
            <p:custDataLst>
              <p:tags r:id="rId10"/>
            </p:custDataLst>
          </p:nvPr>
        </p:nvSpPr>
        <p:spPr>
          <a:xfrm>
            <a:off x="4160520" y="3511296"/>
            <a:ext cx="1828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72146"/>
                </a:solidFill>
                <a:latin typeface="微软雅黑" panose="020B0503020204020204" charset="-122"/>
              </a:rPr>
              <a:t>竞赛与实践</a:t>
            </a:r>
            <a:endParaRPr sz="2000" b="1">
              <a:solidFill>
                <a:srgbClr val="072146"/>
              </a:solidFill>
              <a:latin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>
            <p:custDataLst>
              <p:tags r:id="rId11"/>
            </p:custDataLst>
          </p:nvPr>
        </p:nvSpPr>
        <p:spPr>
          <a:xfrm>
            <a:off x="5897880" y="3566160"/>
            <a:ext cx="4526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06770"/>
                </a:solidFill>
                <a:latin typeface="微软雅黑" panose="020B0503020204020204" charset="-122"/>
              </a:rPr>
              <a:t>建模、机器人、智能对话系统与团队协作</a:t>
            </a:r>
            <a:endParaRPr sz="1200" b="0">
              <a:solidFill>
                <a:srgbClr val="606770"/>
              </a:solidFill>
              <a:latin typeface="微软雅黑" panose="020B0503020204020204" charset="-122"/>
            </a:endParaRPr>
          </a:p>
        </p:txBody>
      </p:sp>
      <p:sp>
        <p:nvSpPr>
          <p:cNvPr id="18" name="Rectangle 17"/>
          <p:cNvSpPr/>
          <p:nvPr>
            <p:custDataLst>
              <p:tags r:id="rId12"/>
            </p:custDataLst>
          </p:nvPr>
        </p:nvSpPr>
        <p:spPr>
          <a:xfrm>
            <a:off x="3429000" y="4114800"/>
            <a:ext cx="7269480" cy="13716"/>
          </a:xfrm>
          <a:prstGeom prst="rect">
            <a:avLst/>
          </a:prstGeom>
          <a:solidFill>
            <a:srgbClr val="DADA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>
            <p:custDataLst>
              <p:tags r:id="rId13"/>
            </p:custDataLst>
          </p:nvPr>
        </p:nvSpPr>
        <p:spPr>
          <a:xfrm>
            <a:off x="3429000" y="4599432"/>
            <a:ext cx="71323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BEBEBE"/>
                </a:solidFill>
                <a:latin typeface="微软雅黑" panose="020B0503020204020204" charset="-122"/>
              </a:rPr>
              <a:t>04</a:t>
            </a:r>
            <a:endParaRPr sz="2800" b="1">
              <a:solidFill>
                <a:srgbClr val="BEBEBE"/>
              </a:solidFill>
              <a:latin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>
            <p:custDataLst>
              <p:tags r:id="rId14"/>
            </p:custDataLst>
          </p:nvPr>
        </p:nvSpPr>
        <p:spPr>
          <a:xfrm>
            <a:off x="4160520" y="4654296"/>
            <a:ext cx="1828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72146"/>
                </a:solidFill>
                <a:latin typeface="微软雅黑" panose="020B0503020204020204" charset="-122"/>
              </a:rPr>
              <a:t>研究兴趣</a:t>
            </a:r>
            <a:endParaRPr sz="2000" b="1">
              <a:solidFill>
                <a:srgbClr val="072146"/>
              </a:solidFill>
              <a:latin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>
            <p:custDataLst>
              <p:tags r:id="rId15"/>
            </p:custDataLst>
          </p:nvPr>
        </p:nvSpPr>
        <p:spPr>
          <a:xfrm>
            <a:off x="5897880" y="4709160"/>
            <a:ext cx="4526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06770"/>
                </a:solidFill>
                <a:latin typeface="微软雅黑" panose="020B0503020204020204" charset="-122"/>
              </a:rPr>
              <a:t>对接大图计算、图神经网络系统与可信智能</a:t>
            </a:r>
            <a:endParaRPr sz="1200" b="0">
              <a:solidFill>
                <a:srgbClr val="606770"/>
              </a:solidFill>
              <a:latin typeface="微软雅黑" panose="020B0503020204020204" charset="-122"/>
            </a:endParaRPr>
          </a:p>
        </p:txBody>
      </p:sp>
      <p:sp>
        <p:nvSpPr>
          <p:cNvPr id="22" name="Rectangle 21"/>
          <p:cNvSpPr/>
          <p:nvPr>
            <p:custDataLst>
              <p:tags r:id="rId16"/>
            </p:custDataLst>
          </p:nvPr>
        </p:nvSpPr>
        <p:spPr>
          <a:xfrm>
            <a:off x="3429000" y="5257800"/>
            <a:ext cx="7269480" cy="13716"/>
          </a:xfrm>
          <a:prstGeom prst="rect">
            <a:avLst/>
          </a:prstGeom>
          <a:solidFill>
            <a:srgbClr val="DADA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94360" y="6464808"/>
            <a:ext cx="10991088" cy="146304"/>
          </a:xfrm>
          <a:prstGeom prst="rect">
            <a:avLst/>
          </a:prstGeom>
          <a:solidFill>
            <a:srgbClr val="0721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7240" y="6478524"/>
            <a:ext cx="10607040" cy="1280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50" b="0">
                <a:solidFill>
                  <a:srgbClr val="EEDAA6"/>
                </a:solidFill>
                <a:latin typeface="微软雅黑" panose="020B0503020204020204" charset="-122"/>
              </a:rPr>
              <a:t>&gt;&gt;&gt;&gt;&gt;&gt; 教育背景 · 科研经历 · 思考总结 · 未来规划 &lt;&lt;&lt;&lt;&lt;&lt;</a:t>
            </a:r>
            <a:endParaRPr sz="650" b="0">
              <a:solidFill>
                <a:srgbClr val="EEDAA6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D7B1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301752"/>
            <a:ext cx="11201400" cy="530352"/>
          </a:xfrm>
          <a:prstGeom prst="rect">
            <a:avLst/>
          </a:prstGeom>
          <a:solidFill>
            <a:srgbClr val="0721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832104"/>
            <a:ext cx="11201400" cy="41148"/>
          </a:xfrm>
          <a:prstGeom prst="rect">
            <a:avLst/>
          </a:prstGeom>
          <a:solidFill>
            <a:srgbClr val="D7B1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9808" y="416052"/>
            <a:ext cx="964692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微软雅黑" panose="020B0503020204020204" charset="-122"/>
              </a:rPr>
              <a:t>教育背景</a:t>
            </a:r>
            <a:endParaRPr sz="18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387584" y="425196"/>
            <a:ext cx="987552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50" b="0">
                <a:solidFill>
                  <a:srgbClr val="EEDAA6"/>
                </a:solidFill>
                <a:latin typeface="微软雅黑" panose="020B0503020204020204" charset="-122"/>
              </a:rPr>
              <a:t>第一部分</a:t>
            </a:r>
            <a:endParaRPr sz="950" b="0">
              <a:solidFill>
                <a:srgbClr val="EEDAA6"/>
              </a:solidFill>
              <a:latin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94944" y="987552"/>
            <a:ext cx="9875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20" b="0">
                <a:solidFill>
                  <a:srgbClr val="606770"/>
                </a:solidFill>
                <a:latin typeface="微软雅黑" panose="020B0503020204020204" charset="-122"/>
              </a:rPr>
              <a:t>兰州理工大学 · 计算机与人工智能学院 · 软件工程</a:t>
            </a:r>
            <a:endParaRPr sz="1020" b="0">
              <a:solidFill>
                <a:srgbClr val="606770"/>
              </a:solidFill>
              <a:latin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22960" y="1353312"/>
            <a:ext cx="8046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>
                <a:solidFill>
                  <a:srgbClr val="072146"/>
                </a:solidFill>
                <a:latin typeface="微软雅黑" panose="020B0503020204020204" charset="-122"/>
              </a:rPr>
              <a:t>兰州理工大学 · 计算机与人工智能学院 · 软件工程（本科）</a:t>
            </a:r>
            <a:endParaRPr sz="2100" b="1">
              <a:solidFill>
                <a:srgbClr val="072146"/>
              </a:solidFill>
              <a:latin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41248" y="1755648"/>
            <a:ext cx="64922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606770"/>
                </a:solidFill>
                <a:latin typeface="微软雅黑" panose="020B0503020204020204" charset="-122"/>
              </a:rPr>
              <a:t>2023.09 至今｜中共预备党员｜籍贯河南濮阳</a:t>
            </a:r>
            <a:endParaRPr sz="1150" b="0">
              <a:solidFill>
                <a:srgbClr val="606770"/>
              </a:solidFill>
              <a:latin typeface="微软雅黑" panose="020B0503020204020204" charset="-122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822960" y="2212848"/>
            <a:ext cx="2331720" cy="941832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AF0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2688" y="2359152"/>
            <a:ext cx="2112263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300" b="1">
                <a:solidFill>
                  <a:srgbClr val="072146"/>
                </a:solidFill>
                <a:latin typeface="微软雅黑" panose="020B0503020204020204" charset="-122"/>
              </a:rPr>
              <a:t>1 / 211</a:t>
            </a:r>
            <a:endParaRPr sz="2300" b="1">
              <a:solidFill>
                <a:srgbClr val="072146"/>
              </a:solidFill>
              <a:latin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987552" y="2779776"/>
            <a:ext cx="200253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>
                <a:solidFill>
                  <a:srgbClr val="606770"/>
                </a:solidFill>
                <a:latin typeface="微软雅黑" panose="020B0503020204020204" charset="-122"/>
              </a:rPr>
              <a:t>专业排名（前五学期）</a:t>
            </a:r>
            <a:endParaRPr sz="1050" b="0">
              <a:solidFill>
                <a:srgbClr val="606770"/>
              </a:solidFill>
              <a:latin typeface="微软雅黑" panose="020B0503020204020204" charset="-122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3429000" y="2212848"/>
            <a:ext cx="2331720" cy="941832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AF0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38728" y="2359152"/>
            <a:ext cx="2112263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300" b="1">
                <a:solidFill>
                  <a:srgbClr val="072146"/>
                </a:solidFill>
                <a:latin typeface="微软雅黑" panose="020B0503020204020204" charset="-122"/>
              </a:rPr>
              <a:t>93.24</a:t>
            </a:r>
            <a:endParaRPr sz="2300" b="1">
              <a:solidFill>
                <a:srgbClr val="072146"/>
              </a:solidFill>
              <a:latin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3593592" y="2779776"/>
            <a:ext cx="200253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>
                <a:solidFill>
                  <a:srgbClr val="606770"/>
                </a:solidFill>
                <a:latin typeface="微软雅黑" panose="020B0503020204020204" charset="-122"/>
              </a:rPr>
              <a:t>加权平均分 / 100</a:t>
            </a:r>
            <a:endParaRPr sz="1050" b="0">
              <a:solidFill>
                <a:srgbClr val="606770"/>
              </a:solidFill>
              <a:latin typeface="微软雅黑" panose="020B0503020204020204" charset="-122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6035040" y="2212848"/>
            <a:ext cx="2331720" cy="941832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AF0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44768" y="2359152"/>
            <a:ext cx="2112263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300" b="1">
                <a:solidFill>
                  <a:srgbClr val="072146"/>
                </a:solidFill>
                <a:latin typeface="微软雅黑" panose="020B0503020204020204" charset="-122"/>
              </a:rPr>
              <a:t>4.32</a:t>
            </a:r>
            <a:endParaRPr sz="2300" b="1">
              <a:solidFill>
                <a:srgbClr val="072146"/>
              </a:solidFill>
              <a:latin typeface="微软雅黑" panose="020B050302020402020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6199631" y="2779776"/>
            <a:ext cx="200253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>
                <a:solidFill>
                  <a:srgbClr val="606770"/>
                </a:solidFill>
                <a:latin typeface="微软雅黑" panose="020B0503020204020204" charset="-122"/>
              </a:rPr>
              <a:t>GPA / 5.0</a:t>
            </a:r>
            <a:endParaRPr sz="1050" b="0">
              <a:solidFill>
                <a:srgbClr val="606770"/>
              </a:solidFill>
              <a:latin typeface="微软雅黑" panose="020B0503020204020204" charset="-122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8641080" y="2212848"/>
            <a:ext cx="2331720" cy="941832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AF0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750807" y="2359152"/>
            <a:ext cx="2112263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300" b="1">
                <a:solidFill>
                  <a:srgbClr val="072146"/>
                </a:solidFill>
                <a:latin typeface="微软雅黑" panose="020B0503020204020204" charset="-122"/>
              </a:rPr>
              <a:t>CET-6 548</a:t>
            </a:r>
            <a:endParaRPr sz="2300" b="1">
              <a:solidFill>
                <a:srgbClr val="072146"/>
              </a:solidFill>
              <a:latin typeface="微软雅黑" panose="020B0503020204020204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8805672" y="2779776"/>
            <a:ext cx="200253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>
                <a:solidFill>
                  <a:srgbClr val="606770"/>
                </a:solidFill>
                <a:latin typeface="微软雅黑" panose="020B0503020204020204" charset="-122"/>
              </a:rPr>
              <a:t>英文资料阅读与沟通能力</a:t>
            </a:r>
            <a:endParaRPr sz="1050" b="0">
              <a:solidFill>
                <a:srgbClr val="606770"/>
              </a:solidFill>
              <a:latin typeface="微软雅黑" panose="020B0503020204020204" charset="-122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822960" y="3529584"/>
            <a:ext cx="498348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AF0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22960" y="3529584"/>
            <a:ext cx="73152" cy="2011680"/>
          </a:xfrm>
          <a:prstGeom prst="rect">
            <a:avLst/>
          </a:prstGeom>
          <a:solidFill>
            <a:srgbClr val="D7B1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24128" y="3694176"/>
            <a:ext cx="463600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72146"/>
                </a:solidFill>
                <a:latin typeface="微软雅黑" panose="020B0503020204020204" charset="-122"/>
              </a:rPr>
              <a:t>核心课程基础</a:t>
            </a:r>
            <a:endParaRPr sz="1400" b="1">
              <a:solidFill>
                <a:srgbClr val="072146"/>
              </a:solidFill>
              <a:latin typeface="微软雅黑" panose="020B0503020204020204" charset="-122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1024128" y="4059935"/>
            <a:ext cx="4636008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5000"/>
              </a:lnSpc>
              <a:spcAft>
                <a:spcPts val="600"/>
              </a:spcAft>
            </a:pPr>
            <a:r>
              <a:rPr sz="1150" b="0">
                <a:solidFill>
                  <a:srgbClr val="262D37"/>
                </a:solidFill>
                <a:latin typeface="微软雅黑" panose="020B0503020204020204" charset="-122"/>
              </a:rPr>
              <a:t>C/C++、数据库原理、Python、离散数学等 6 门课程 99 分</a:t>
            </a:r>
            <a:endParaRPr sz="1150" b="0">
              <a:solidFill>
                <a:srgbClr val="262D37"/>
              </a:solidFill>
              <a:latin typeface="微软雅黑" panose="020B0503020204020204" charset="-122"/>
            </a:endParaRPr>
          </a:p>
          <a:p>
            <a:pPr>
              <a:lnSpc>
                <a:spcPct val="95000"/>
              </a:lnSpc>
              <a:spcAft>
                <a:spcPts val="600"/>
              </a:spcAft>
            </a:pPr>
            <a:r>
              <a:rPr sz="1150" b="0">
                <a:solidFill>
                  <a:srgbClr val="262D37"/>
                </a:solidFill>
                <a:latin typeface="微软雅黑" panose="020B0503020204020204" charset="-122"/>
              </a:rPr>
              <a:t>计算机网络、计算机组成原理、Java 等课程表现稳定</a:t>
            </a:r>
            <a:endParaRPr sz="1150" b="0">
              <a:solidFill>
                <a:srgbClr val="262D37"/>
              </a:solidFill>
              <a:latin typeface="微软雅黑" panose="020B0503020204020204" charset="-122"/>
            </a:endParaRPr>
          </a:p>
          <a:p>
            <a:pPr>
              <a:lnSpc>
                <a:spcPct val="95000"/>
              </a:lnSpc>
              <a:spcAft>
                <a:spcPts val="600"/>
              </a:spcAft>
            </a:pPr>
            <a:r>
              <a:rPr sz="1150" b="0">
                <a:solidFill>
                  <a:srgbClr val="262D37"/>
                </a:solidFill>
                <a:latin typeface="微软雅黑" panose="020B0503020204020204" charset="-122"/>
              </a:rPr>
              <a:t>11 门核心课程 90 分以上，基础课与工程课较均衡</a:t>
            </a:r>
            <a:endParaRPr sz="1150" b="0">
              <a:solidFill>
                <a:srgbClr val="262D37"/>
              </a:solidFill>
              <a:latin typeface="微软雅黑" panose="020B0503020204020204" charset="-122"/>
            </a:endParaRPr>
          </a:p>
        </p:txBody>
      </p:sp>
      <p:sp>
        <p:nvSpPr>
          <p:cNvPr id="27" name="Rounded Rectangle 26"/>
          <p:cNvSpPr/>
          <p:nvPr/>
        </p:nvSpPr>
        <p:spPr>
          <a:xfrm>
            <a:off x="6172200" y="3529584"/>
            <a:ext cx="516636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AF0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172200" y="3529584"/>
            <a:ext cx="73152" cy="2011680"/>
          </a:xfrm>
          <a:prstGeom prst="rect">
            <a:avLst/>
          </a:prstGeom>
          <a:solidFill>
            <a:srgbClr val="0721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73368" y="3694176"/>
            <a:ext cx="481888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72146"/>
                </a:solidFill>
                <a:latin typeface="微软雅黑" panose="020B0503020204020204" charset="-122"/>
              </a:rPr>
              <a:t>荣誉与综合能力</a:t>
            </a:r>
            <a:endParaRPr sz="1400" b="1">
              <a:solidFill>
                <a:srgbClr val="072146"/>
              </a:solidFill>
              <a:latin typeface="微软雅黑" panose="020B0503020204020204" charset="-122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6373368" y="4059935"/>
            <a:ext cx="4818888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5000"/>
              </a:lnSpc>
              <a:spcAft>
                <a:spcPts val="600"/>
              </a:spcAft>
            </a:pPr>
            <a:r>
              <a:rPr sz="1150" b="0">
                <a:solidFill>
                  <a:srgbClr val="262D37"/>
                </a:solidFill>
                <a:latin typeface="微软雅黑" panose="020B0503020204020204" charset="-122"/>
              </a:rPr>
              <a:t>国家奖学金、国家励志奖学金</a:t>
            </a:r>
            <a:endParaRPr sz="1150" b="0">
              <a:solidFill>
                <a:srgbClr val="262D37"/>
              </a:solidFill>
              <a:latin typeface="微软雅黑" panose="020B0503020204020204" charset="-122"/>
            </a:endParaRPr>
          </a:p>
          <a:p>
            <a:pPr>
              <a:lnSpc>
                <a:spcPct val="95000"/>
              </a:lnSpc>
              <a:spcAft>
                <a:spcPts val="600"/>
              </a:spcAft>
            </a:pPr>
            <a:r>
              <a:rPr sz="1150" b="0">
                <a:solidFill>
                  <a:srgbClr val="262D37"/>
                </a:solidFill>
                <a:latin typeface="微软雅黑" panose="020B0503020204020204" charset="-122"/>
              </a:rPr>
              <a:t>甘肃省普通高校三好学生（连续两年度）</a:t>
            </a:r>
            <a:endParaRPr sz="1150" b="0">
              <a:solidFill>
                <a:srgbClr val="262D37"/>
              </a:solidFill>
              <a:latin typeface="微软雅黑" panose="020B0503020204020204" charset="-122"/>
            </a:endParaRPr>
          </a:p>
          <a:p>
            <a:pPr>
              <a:lnSpc>
                <a:spcPct val="95000"/>
              </a:lnSpc>
              <a:spcAft>
                <a:spcPts val="600"/>
              </a:spcAft>
            </a:pPr>
            <a:r>
              <a:rPr sz="1150" b="0">
                <a:solidFill>
                  <a:srgbClr val="262D37"/>
                </a:solidFill>
                <a:latin typeface="微软雅黑" panose="020B0503020204020204" charset="-122"/>
              </a:rPr>
              <a:t>外研社·国才杯英语综合能力赛省级特等奖</a:t>
            </a:r>
            <a:endParaRPr sz="1150" b="0">
              <a:solidFill>
                <a:srgbClr val="262D37"/>
              </a:solidFill>
              <a:latin typeface="微软雅黑" panose="020B0503020204020204" charset="-122"/>
            </a:endParaRPr>
          </a:p>
          <a:p>
            <a:pPr>
              <a:lnSpc>
                <a:spcPct val="95000"/>
              </a:lnSpc>
              <a:spcAft>
                <a:spcPts val="600"/>
              </a:spcAft>
            </a:pPr>
            <a:r>
              <a:rPr sz="1150" b="0">
                <a:solidFill>
                  <a:srgbClr val="262D37"/>
                </a:solidFill>
                <a:latin typeface="微软雅黑" panose="020B0503020204020204" charset="-122"/>
              </a:rPr>
              <a:t>普通话二级甲等，具备组会汇报与学术交流基础</a:t>
            </a:r>
            <a:endParaRPr sz="1150" b="0">
              <a:solidFill>
                <a:srgbClr val="262D37"/>
              </a:solidFill>
              <a:latin typeface="微软雅黑" panose="020B0503020204020204" charset="-122"/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594360" y="6464808"/>
            <a:ext cx="10991088" cy="146304"/>
          </a:xfrm>
          <a:prstGeom prst="rect">
            <a:avLst/>
          </a:prstGeom>
          <a:solidFill>
            <a:srgbClr val="0721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77240" y="6478524"/>
            <a:ext cx="10607040" cy="1280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50" b="0">
                <a:solidFill>
                  <a:srgbClr val="EEDAA6"/>
                </a:solidFill>
                <a:latin typeface="微软雅黑" panose="020B0503020204020204" charset="-122"/>
              </a:rPr>
              <a:t>&gt;&gt;&gt;&gt;&gt;&gt; 教育背景 · 科研经历 · 思考总结 · 未来规划 &lt;&lt;&lt;&lt;&lt;&lt;</a:t>
            </a:r>
            <a:endParaRPr sz="650" b="0">
              <a:solidFill>
                <a:srgbClr val="EEDAA6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4.xml><?xml version="1.0" encoding="utf-8"?>
<ns0:sld xmlns:ns0="http://schemas.openxmlformats.org/presentationml/2006/main" xmlns:ns1="http://schemas.openxmlformats.org/drawingml/2006/main">
  <ns0:cSld>
    <ns0:spTree>
      <ns0:nvGrpSpPr>
        <ns0:cNvPr id="1" name=""/>
        <ns0:cNvGrpSpPr/>
        <ns0:nvPr/>
      </ns0:nvGrpSpPr>
      <ns0:grpSpPr/>
      <ns0:sp>
        <ns0:nvSpPr>
          <ns0:cNvPr id="2" name="Rectangle 1"/>
          <ns0:cNvSpPr/>
          <ns0:nvPr/>
        </ns0:nvSpPr>
        <ns0:spPr>
          <ns1:xfrm>
            <ns1:off x="0" y="0"/>
            <ns1:ext cx="12191695" cy="6858000"/>
          </ns1:xfrm>
          <ns1:prstGeom prst="rect">
            <ns1:avLst/>
          </ns1:prstGeom>
          <ns1:solidFill>
            <ns1:srgbClr val="FFFFFF"/>
          </ns1:solidFill>
          <ns1:ln>
            <ns1:noFill/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  <ns0:sp>
        <ns0:nvSpPr>
          <ns0:cNvPr id="3" name="Rectangle 2"/>
          <ns0:cNvSpPr/>
          <ns0:nvPr/>
        </ns0:nvSpPr>
        <ns0:spPr>
          <ns1:xfrm>
            <ns1:off x="0" y="0"/>
            <ns1:ext cx="12191695" cy="146304"/>
          </ns1:xfrm>
          <ns1:prstGeom prst="rect">
            <ns1:avLst/>
          </ns1:prstGeom>
          <ns1:solidFill>
            <ns1:srgbClr val="D7B169"/>
          </ns1:solidFill>
          <ns1:ln>
            <ns1:noFill/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  <ns0:sp>
        <ns0:nvSpPr>
          <ns0:cNvPr id="4" name="Rectangle 3"/>
          <ns0:cNvSpPr/>
          <ns0:nvPr/>
        </ns0:nvSpPr>
        <ns0:spPr>
          <ns1:xfrm>
            <ns1:off x="502920" y="301752"/>
            <ns1:ext cx="11201400" cy="530352"/>
          </ns1:xfrm>
          <ns1:prstGeom prst="rect">
            <ns1:avLst/>
          </ns1:prstGeom>
          <ns1:solidFill>
            <ns1:srgbClr val="072146"/>
          </ns1:solidFill>
          <ns1:ln>
            <ns1:noFill/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  <ns0:sp>
        <ns0:nvSpPr>
          <ns0:cNvPr id="5" name="Rectangle 4"/>
          <ns0:cNvSpPr/>
          <ns0:nvPr/>
        </ns0:nvSpPr>
        <ns0:spPr>
          <ns1:xfrm>
            <ns1:off x="502920" y="832104"/>
            <ns1:ext cx="11201400" cy="41148"/>
          </ns1:xfrm>
          <ns1:prstGeom prst="rect">
            <ns1:avLst/>
          </ns1:prstGeom>
          <ns1:solidFill>
            <ns1:srgbClr val="D7B169"/>
          </ns1:solidFill>
          <ns1:ln>
            <ns1:noFill/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  <ns0:sp>
        <ns0:nvSpPr>
          <ns0:cNvPr id="6" name="TextBox 5"/>
          <ns0:cNvSpPr txBox="1"/>
          <ns0:nvPr/>
        </ns0:nvSpPr>
        <ns0:spPr>
          <ns1:xfrm>
            <ns1:off x="749808" y="348044"/>
            <ns1:ext cx="9646920" cy="337185"/>
          </ns1:xfrm>
          <ns1:prstGeom prst="rect">
            <ns1:avLst/>
          </ns1:prstGeom>
          <ns1:noFill/>
        </ns0:spPr>
        <ns0:txBody>
          <ns1:bodyPr wrap="square" anchor="ctr">
            <ns1:spAutoFit/>
          </ns1:bodyPr>
          <ns1:lstStyle/>
          <ns1:p>
            <ns1:pPr algn="l"/>
            <ns1:r>
              <ns1:rPr lang="zh-CN" sz="1600" b="1">
                <ns1:solidFill>
                  <ns1:srgbClr val="FFFFFF"/>
                </ns1:solidFill>
                <ns1:latin typeface="微软雅黑" panose="020B0503020204020204" charset="-122"/>
              </ns1:rPr>
              <ns1:t>项目</ns1:t>
            </ns1:r>
            <ns1:r>
              <ns1:rPr sz="1600" b="1">
                <ns1:solidFill>
                  <ns1:srgbClr val="FFFFFF"/>
                </ns1:solidFill>
                <ns1:latin typeface="微软雅黑" panose="020B0503020204020204" charset="-122"/>
              </ns1:rPr>
              <ns1:t>经历：多模态异常事件理解与可信问答评测</ns1:t>
            </ns1:r>
            <ns1:endParaRPr sz="1600" b="1">
              <ns1:solidFill>
                <ns1:srgbClr val="FFFFFF"/>
              </ns1:solidFill>
              <ns1:latin typeface="微软雅黑" panose="020B0503020204020204" charset="-122"/>
            </ns1:endParaRPr>
          </ns1:p>
        </ns0:txBody>
      </ns0:sp>
      <ns0:sp>
        <ns0:nvSpPr>
          <ns0:cNvPr id="7" name="TextBox 6"/>
          <ns0:cNvSpPr txBox="1"/>
          <ns0:nvPr/>
        </ns0:nvSpPr>
        <ns0:spPr>
          <ns1:xfrm>
            <ns1:off x="10387584" y="425196"/>
            <ns1:ext cx="987552" cy="164592"/>
          </ns1:xfrm>
          <ns1:prstGeom prst="rect">
            <ns1:avLst/>
          </ns1:prstGeom>
          <ns1:noFill/>
        </ns0:spPr>
        <ns0:txBody>
          <ns1:bodyPr wrap="square" anchor="ctr">
            <ns1:spAutoFit/>
          </ns1:bodyPr>
          <ns1:lstStyle/>
          <ns1:p>
            <ns1:pPr algn="r"/>
            <ns1:r>
              <ns1:rPr sz="950" b="0">
                <ns1:solidFill>
                  <ns1:srgbClr val="EEDAA6"/>
                </ns1:solidFill>
                <ns1:latin typeface="微软雅黑" panose="020B0503020204020204" charset="-122"/>
              </ns1:rPr>
              <ns1:t>第二部分</ns1:t>
            </ns1:r>
            <ns1:endParaRPr sz="950" b="0">
              <ns1:solidFill>
                <ns1:srgbClr val="EEDAA6"/>
              </ns1:solidFill>
              <ns1:latin typeface="微软雅黑" panose="020B0503020204020204" charset="-122"/>
            </ns1:endParaRPr>
          </ns1:p>
        </ns0:txBody>
      </ns0:sp>
      <ns0:sp>
        <ns0:nvSpPr>
          <ns0:cNvPr id="8" name="TextBox 7"/>
          <ns0:cNvSpPr txBox="1"/>
          <ns0:nvPr/>
        </ns0:nvSpPr>
        <ns0:spPr>
          <ns1:xfrm>
            <ns1:off x="694944" y="987552"/>
            <ns1:ext cx="9875520" cy="182880"/>
          </ns1:xfrm>
          <ns1:prstGeom prst="rect">
            <ns1:avLst/>
          </ns1:prstGeom>
          <ns1:noFill/>
        </ns0:spPr>
        <ns0:txBody>
          <ns1:bodyPr wrap="square">
            <ns1:spAutoFit/>
          </ns1:bodyPr>
          <ns1:lstStyle/>
          <ns1:p>
            <ns1:pPr algn="l"/>
            <ns1:r>
              <ns1:rPr sz="1020" b="0">
                <ns1:solidFill>
                  <ns1:srgbClr val="606770"/>
                </ns1:solidFill>
                <ns1:latin typeface="微软雅黑" panose="020B0503020204020204" charset="-122"/>
              </ns1:rPr>
              <ns1:t>国家级大创｜核心开发</ns1:t>
            </ns1:r>
            <ns1:endParaRPr sz="1020" b="0">
              <ns1:solidFill>
                <ns1:srgbClr val="606770"/>
              </ns1:solidFill>
              <ns1:latin typeface="微软雅黑" panose="020B0503020204020204" charset="-122"/>
            </ns1:endParaRPr>
          </ns1:p>
        </ns0:txBody>
      </ns0:sp>
      <ns0:sp>
        <ns0:nvSpPr>
          <ns0:cNvPr id="9" name="TextBox 8"/>
          <ns0:cNvSpPr txBox="1"/>
          <ns0:nvPr/>
        </ns0:nvSpPr>
        <ns0:spPr>
          <ns1:xfrm>
            <ns1:off x="822960" y="1325880"/>
            <ns1:ext cx="10241280" cy="329184"/>
          </ns1:xfrm>
          <ns1:prstGeom prst="rect">
            <ns1:avLst/>
          </ns1:prstGeom>
          <ns1:noFill/>
        </ns0:spPr>
        <ns0:txBody>
          <ns1:bodyPr wrap="square">
            <ns1:spAutoFit/>
          </ns1:bodyPr>
          <ns1:lstStyle/>
          <ns1:p>
            <ns1:pPr algn="l"/>
            <ns1:r>
              <ns1:rPr sz="1550" b="1">
                <ns1:solidFill>
                  <ns1:srgbClr val="262D37"/>
                </ns1:solidFill>
                <ns1:latin typeface="微软雅黑" panose="020B0503020204020204" charset="-122"/>
              </ns1:rPr>
              <ns1:t>面向居家养老与远程健康监护场景，将“异常识别”扩展为可解释、可追溯、可评测的智能问答流程。</ns1:t>
            </ns1:r>
            <ns1:endParaRPr sz="1550" b="1">
              <ns1:solidFill>
                <ns1:srgbClr val="262D37"/>
              </ns1:solidFill>
              <ns1:latin typeface="微软雅黑" panose="020B0503020204020204" charset="-122"/>
            </ns1:endParaRPr>
          </ns1:p>
        </ns0:txBody>
      </ns0:sp>
      <ns0:sp>
        <ns0:nvSpPr>
          <ns0:cNvPr id="10" name="Rounded Rectangle 9"/>
          <ns0:cNvSpPr/>
          <ns0:nvPr/>
        </ns0:nvSpPr>
        <ns0:spPr>
          <ns1:xfrm>
            <ns1:off x="822960" y="1947672"/>
            <ns1:ext cx="2148840" cy="868680"/>
          </ns1:xfrm>
          <ns1:prstGeom prst="roundRect">
            <ns1:avLst/>
          </ns1:prstGeom>
          <ns1:solidFill>
            <ns1:srgbClr val="EAF0F8"/>
          </ns1:solidFill>
          <ns1:ln w="12700">
            <ns1:solidFill>
              <ns1:srgbClr val="CEDAEB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  <ns0:sp>
        <ns0:nvSpPr>
          <ns0:cNvPr id="11" name="TextBox 10"/>
          <ns0:cNvSpPr txBox="1"/>
          <ns0:nvPr/>
        </ns0:nvSpPr>
        <ns0:spPr>
          <ns1:xfrm>
            <ns1:off x="932688" y="2093976"/>
            <ns1:ext cx="1920240" cy="228600"/>
          </ns1:xfrm>
          <ns1:prstGeom prst="rect">
            <ns1:avLst/>
          </ns1:prstGeom>
          <ns1:noFill/>
        </ns0:spPr>
        <ns0:txBody>
          <ns1:bodyPr wrap="square">
            <ns1:spAutoFit/>
          </ns1:bodyPr>
          <ns1:lstStyle/>
          <ns1:p>
            <ns1:pPr algn="ctr"/>
            <ns1:r>
              <ns1:rPr sz="1450" b="1">
                <ns1:solidFill>
                  <ns1:srgbClr val="072146"/>
                </ns1:solidFill>
                <ns1:latin typeface="微软雅黑" panose="020B0503020204020204" charset="-122"/>
              </ns1:rPr>
              <ns1:t>异常检测</ns1:t>
            </ns1:r>
            <ns1:endParaRPr sz="1450" b="1">
              <ns1:solidFill>
                <ns1:srgbClr val="072146"/>
              </ns1:solidFill>
              <ns1:latin typeface="微软雅黑" panose="020B0503020204020204" charset="-122"/>
            </ns1:endParaRPr>
          </ns1:p>
        </ns0:txBody>
      </ns0:sp>
      <ns0:sp>
        <ns0:nvSpPr>
          <ns0:cNvPr id="12" name="TextBox 11"/>
          <ns0:cNvSpPr txBox="1"/>
          <ns0:nvPr/>
        </ns0:nvSpPr>
        <ns0:spPr>
          <ns1:xfrm>
            <ns1:off x="932688" y="2423160"/>
            <ns1:ext cx="1920240" cy="192024"/>
          </ns1:xfrm>
          <ns1:prstGeom prst="rect">
            <ns1:avLst/>
          </ns1:prstGeom>
          <ns1:noFill/>
        </ns0:spPr>
        <ns0:txBody>
          <ns1:bodyPr wrap="square">
            <ns1:spAutoFit/>
          </ns1:bodyPr>
          <ns1:lstStyle/>
          <ns1:p>
            <ns1:pPr algn="ctr"/>
            <ns1:r>
              <ns1:rPr sz="950" b="0">
                <ns1:solidFill>
                  <ns1:srgbClr val="606770"/>
                </ns1:solidFill>
                <ns1:latin typeface="微软雅黑" panose="020B0503020204020204" charset="-122"/>
              </ns1:rPr>
              <ns1:t>跌倒 / 静止 / 徘徊 / 遮挡</ns1:t>
            </ns1:r>
            <ns1:endParaRPr sz="950" b="0">
              <ns1:solidFill>
                <ns1:srgbClr val="606770"/>
              </ns1:solidFill>
              <ns1:latin typeface="微软雅黑" panose="020B0503020204020204" charset="-122"/>
            </ns1:endParaRPr>
          </ns1:p>
        </ns0:txBody>
      </ns0:sp>
      <ns0:sp>
        <ns0:nvSpPr>
          <ns0:cNvPr id="13" name="TextBox 12"/>
          <ns0:cNvSpPr txBox="1"/>
          <ns0:nvPr/>
        </ns0:nvSpPr>
        <ns0:spPr>
          <ns1:xfrm>
            <ns1:off x="3090672" y="2194560"/>
            <ns1:ext cx="384048" cy="256032"/>
          </ns1:xfrm>
          <ns1:prstGeom prst="rect">
            <ns1:avLst/>
          </ns1:prstGeom>
          <ns1:noFill/>
        </ns0:spPr>
        <ns0:txBody>
          <ns1:bodyPr wrap="square">
            <ns1:spAutoFit/>
          </ns1:bodyPr>
          <ns1:lstStyle/>
          <ns1:p>
            <ns1:pPr algn="ctr"/>
            <ns1:r>
              <ns1:rPr sz="2200" b="1">
                <ns1:solidFill>
                  <ns1:srgbClr val="D7B169"/>
                </ns1:solidFill>
                <ns1:latin typeface="微软雅黑" panose="020B0503020204020204" charset="-122"/>
              </ns1:rPr>
              <ns1:t>→</ns1:t>
            </ns1:r>
            <ns1:endParaRPr sz="2200" b="1">
              <ns1:solidFill>
                <ns1:srgbClr val="D7B169"/>
              </ns1:solidFill>
              <ns1:latin typeface="微软雅黑" panose="020B0503020204020204" charset="-122"/>
            </ns1:endParaRPr>
          </ns1:p>
        </ns0:txBody>
      </ns0:sp>
      <ns0:sp>
        <ns0:nvSpPr>
          <ns0:cNvPr id="14" name="Rounded Rectangle 13"/>
          <ns0:cNvSpPr/>
          <ns0:nvPr/>
        </ns0:nvSpPr>
        <ns0:spPr>
          <ns1:xfrm>
            <ns1:off x="3639312" y="1947672"/>
            <ns1:ext cx="2148840" cy="868680"/>
          </ns1:xfrm>
          <ns1:prstGeom prst="roundRect">
            <ns1:avLst/>
          </ns1:prstGeom>
          <ns1:solidFill>
            <ns1:srgbClr val="EAF0F8"/>
          </ns1:solidFill>
          <ns1:ln w="12700">
            <ns1:solidFill>
              <ns1:srgbClr val="CEDAEB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  <ns0:sp>
        <ns0:nvSpPr>
          <ns0:cNvPr id="15" name="TextBox 14"/>
          <ns0:cNvSpPr txBox="1"/>
          <ns0:nvPr/>
        </ns0:nvSpPr>
        <ns0:spPr>
          <ns1:xfrm>
            <ns1:off x="3749039" y="2093976"/>
            <ns1:ext cx="1920240" cy="228600"/>
          </ns1:xfrm>
          <ns1:prstGeom prst="rect">
            <ns1:avLst/>
          </ns1:prstGeom>
          <ns1:noFill/>
        </ns0:spPr>
        <ns0:txBody>
          <ns1:bodyPr wrap="square">
            <ns1:spAutoFit/>
          </ns1:bodyPr>
          <ns1:lstStyle/>
          <ns1:p>
            <ns1:pPr algn="ctr"/>
            <ns1:r>
              <ns1:rPr sz="1450" b="1">
                <ns1:solidFill>
                  <ns1:srgbClr val="072146"/>
                </ns1:solidFill>
                <ns1:latin typeface="微软雅黑" panose="020B0503020204020204" charset="-122"/>
              </ns1:rPr>
              <ns1:t>多模态解释</ns1:t>
            </ns1:r>
            <ns1:endParaRPr sz="1450" b="1">
              <ns1:solidFill>
                <ns1:srgbClr val="072146"/>
              </ns1:solidFill>
              <ns1:latin typeface="微软雅黑" panose="020B0503020204020204" charset="-122"/>
            </ns1:endParaRPr>
          </ns1:p>
        </ns0:txBody>
      </ns0:sp>
      <ns0:sp>
        <ns0:nvSpPr>
          <ns0:cNvPr id="16" name="TextBox 15"/>
          <ns0:cNvSpPr txBox="1"/>
          <ns0:nvPr/>
        </ns0:nvSpPr>
        <ns0:spPr>
          <ns1:xfrm>
            <ns1:off x="3749039" y="2423160"/>
            <ns1:ext cx="1920240" cy="192024"/>
          </ns1:xfrm>
          <ns1:prstGeom prst="rect">
            <ns1:avLst/>
          </ns1:prstGeom>
          <ns1:noFill/>
        </ns0:spPr>
        <ns0:txBody>
          <ns1:bodyPr wrap="square">
            <ns1:spAutoFit/>
          </ns1:bodyPr>
          <ns1:lstStyle/>
          <ns1:p>
            <ns1:pPr algn="ctr"/>
            <ns1:r>
              <ns1:rPr sz="950" b="0">
                <ns1:solidFill>
                  <ns1:srgbClr val="606770"/>
                </ns1:solidFill>
                <ns1:latin typeface="微软雅黑" panose="020B0503020204020204" charset="-122"/>
              </ns1:rPr>
              <ns1:t>类型-依据-风险-建议</ns1:t>
            </ns1:r>
            <ns1:endParaRPr sz="950" b="0">
              <ns1:solidFill>
                <ns1:srgbClr val="606770"/>
              </ns1:solidFill>
              <ns1:latin typeface="微软雅黑" panose="020B0503020204020204" charset="-122"/>
            </ns1:endParaRPr>
          </ns1:p>
        </ns0:txBody>
      </ns0:sp>
      <ns0:sp>
        <ns0:nvSpPr>
          <ns0:cNvPr id="17" name="TextBox 16"/>
          <ns0:cNvSpPr txBox="1"/>
          <ns0:nvPr/>
        </ns0:nvSpPr>
        <ns0:spPr>
          <ns1:xfrm>
            <ns1:off x="5907024" y="2194560"/>
            <ns1:ext cx="384048" cy="256032"/>
          </ns1:xfrm>
          <ns1:prstGeom prst="rect">
            <ns1:avLst/>
          </ns1:prstGeom>
          <ns1:noFill/>
        </ns0:spPr>
        <ns0:txBody>
          <ns1:bodyPr wrap="square">
            <ns1:spAutoFit/>
          </ns1:bodyPr>
          <ns1:lstStyle/>
          <ns1:p>
            <ns1:pPr algn="ctr"/>
            <ns1:r>
              <ns1:rPr sz="2200" b="1">
                <ns1:solidFill>
                  <ns1:srgbClr val="D7B169"/>
                </ns1:solidFill>
                <ns1:latin typeface="微软雅黑" panose="020B0503020204020204" charset="-122"/>
              </ns1:rPr>
              <ns1:t>→</ns1:t>
            </ns1:r>
            <ns1:endParaRPr sz="2200" b="1">
              <ns1:solidFill>
                <ns1:srgbClr val="D7B169"/>
              </ns1:solidFill>
              <ns1:latin typeface="微软雅黑" panose="020B0503020204020204" charset="-122"/>
            </ns1:endParaRPr>
          </ns1:p>
        </ns0:txBody>
      </ns0:sp>
      <ns0:sp>
        <ns0:nvSpPr>
          <ns0:cNvPr id="18" name="Rounded Rectangle 17"/>
          <ns0:cNvSpPr/>
          <ns0:nvPr/>
        </ns0:nvSpPr>
        <ns0:spPr>
          <ns1:xfrm>
            <ns1:off x="6455664" y="1947672"/>
            <ns1:ext cx="2148840" cy="868680"/>
          </ns1:xfrm>
          <ns1:prstGeom prst="roundRect">
            <ns1:avLst/>
          </ns1:prstGeom>
          <ns1:solidFill>
            <ns1:srgbClr val="EAF0F8"/>
          </ns1:solidFill>
          <ns1:ln w="12700">
            <ns1:solidFill>
              <ns1:srgbClr val="CEDAEB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  <ns0:sp>
        <ns0:nvSpPr>
          <ns0:cNvPr id="19" name="TextBox 18"/>
          <ns0:cNvSpPr txBox="1"/>
          <ns0:nvPr/>
        </ns0:nvSpPr>
        <ns0:spPr>
          <ns1:xfrm>
            <ns1:off x="6565392" y="2093976"/>
            <ns1:ext cx="1920240" cy="228600"/>
          </ns1:xfrm>
          <ns1:prstGeom prst="rect">
            <ns1:avLst/>
          </ns1:prstGeom>
          <ns1:noFill/>
        </ns0:spPr>
        <ns0:txBody>
          <ns1:bodyPr wrap="square">
            <ns1:spAutoFit/>
          </ns1:bodyPr>
          <ns1:lstStyle/>
          <ns1:p>
            <ns1:pPr algn="ctr"/>
            <ns1:r>
              <ns1:rPr sz="1450" b="1">
                <ns1:solidFill>
                  <ns1:srgbClr val="072146"/>
                </ns1:solidFill>
                <ns1:latin typeface="微软雅黑" panose="020B0503020204020204" charset="-122"/>
              </ns1:rPr>
              <ns1:t>知识检索</ns1:t>
            </ns1:r>
            <ns1:endParaRPr sz="1450" b="1">
              <ns1:solidFill>
                <ns1:srgbClr val="072146"/>
              </ns1:solidFill>
              <ns1:latin typeface="微软雅黑" panose="020B0503020204020204" charset="-122"/>
            </ns1:endParaRPr>
          </ns1:p>
        </ns0:txBody>
      </ns0:sp>
      <ns0:sp>
        <ns0:nvSpPr>
          <ns0:cNvPr id="20" name="TextBox 19"/>
          <ns0:cNvSpPr txBox="1"/>
          <ns0:nvPr/>
        </ns0:nvSpPr>
        <ns0:spPr>
          <ns1:xfrm>
            <ns1:off x="6565392" y="2423160"/>
            <ns1:ext cx="1920240" cy="192024"/>
          </ns1:xfrm>
          <ns1:prstGeom prst="rect">
            <ns1:avLst/>
          </ns1:prstGeom>
          <ns1:noFill/>
        </ns0:spPr>
        <ns0:txBody>
          <ns1:bodyPr wrap="square">
            <ns1:spAutoFit/>
          </ns1:bodyPr>
          <ns1:lstStyle/>
          <ns1:p>
            <ns1:pPr algn="ctr"/>
            <ns1:r>
              <ns1:rPr sz="950" b="0">
                <ns1:solidFill>
                  <ns1:srgbClr val="606770"/>
                </ns1:solidFill>
                <ns1:latin typeface="微软雅黑" panose="020B0503020204020204" charset="-122"/>
              </ns1:rPr>
              <ns1:t>本地RAG / GraphRAG思路探索</ns1:t>
            </ns1:r>
            <ns1:endParaRPr sz="950" b="0">
              <ns1:solidFill>
                <ns1:srgbClr val="606770"/>
              </ns1:solidFill>
              <ns1:latin typeface="微软雅黑" panose="020B0503020204020204" charset="-122"/>
            </ns1:endParaRPr>
          </ns1:p>
        </ns0:txBody>
      </ns0:sp>
      <ns0:sp>
        <ns0:nvSpPr>
          <ns0:cNvPr id="21" name="TextBox 20"/>
          <ns0:cNvSpPr txBox="1"/>
          <ns0:nvPr/>
        </ns0:nvSpPr>
        <ns0:spPr>
          <ns1:xfrm>
            <ns1:off x="8723376" y="2194560"/>
            <ns1:ext cx="384048" cy="256032"/>
          </ns1:xfrm>
          <ns1:prstGeom prst="rect">
            <ns1:avLst/>
          </ns1:prstGeom>
          <ns1:noFill/>
        </ns0:spPr>
        <ns0:txBody>
          <ns1:bodyPr wrap="square">
            <ns1:spAutoFit/>
          </ns1:bodyPr>
          <ns1:lstStyle/>
          <ns1:p>
            <ns1:pPr algn="ctr"/>
            <ns1:r>
              <ns1:rPr sz="2200" b="1">
                <ns1:solidFill>
                  <ns1:srgbClr val="D7B169"/>
                </ns1:solidFill>
                <ns1:latin typeface="微软雅黑" panose="020B0503020204020204" charset="-122"/>
              </ns1:rPr>
              <ns1:t>→</ns1:t>
            </ns1:r>
            <ns1:endParaRPr sz="2200" b="1">
              <ns1:solidFill>
                <ns1:srgbClr val="D7B169"/>
              </ns1:solidFill>
              <ns1:latin typeface="微软雅黑" panose="020B0503020204020204" charset="-122"/>
            </ns1:endParaRPr>
          </ns1:p>
        </ns0:txBody>
      </ns0:sp>
      <ns0:sp>
        <ns0:nvSpPr>
          <ns0:cNvPr id="22" name="Rounded Rectangle 21"/>
          <ns0:cNvSpPr/>
          <ns0:nvPr/>
        </ns0:nvSpPr>
        <ns0:spPr>
          <ns1:xfrm>
            <ns1:off x="9272016" y="1947672"/>
            <ns1:ext cx="2148840" cy="868680"/>
          </ns1:xfrm>
          <ns1:prstGeom prst="roundRect">
            <ns1:avLst/>
          </ns1:prstGeom>
          <ns1:solidFill>
            <ns1:srgbClr val="EAF0F8"/>
          </ns1:solidFill>
          <ns1:ln w="12700">
            <ns1:solidFill>
              <ns1:srgbClr val="CEDAEB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  <ns0:sp>
        <ns0:nvSpPr>
          <ns0:cNvPr id="23" name="TextBox 22"/>
          <ns0:cNvSpPr txBox="1"/>
          <ns0:nvPr/>
        </ns0:nvSpPr>
        <ns0:spPr>
          <ns1:xfrm>
            <ns1:off x="9381744" y="2093976"/>
            <ns1:ext cx="1920240" cy="228600"/>
          </ns1:xfrm>
          <ns1:prstGeom prst="rect">
            <ns1:avLst/>
          </ns1:prstGeom>
          <ns1:noFill/>
        </ns0:spPr>
        <ns0:txBody>
          <ns1:bodyPr wrap="square">
            <ns1:spAutoFit/>
          </ns1:bodyPr>
          <ns1:lstStyle/>
          <ns1:p>
            <ns1:pPr algn="ctr"/>
            <ns1:r>
              <ns1:rPr sz="1450" b="1">
                <ns1:solidFill>
                  <ns1:srgbClr val="072146"/>
                </ns1:solidFill>
                <ns1:latin typeface="微软雅黑" panose="020B0503020204020204" charset="-122"/>
              </ns1:rPr>
              <ns1:t>可信评测</ns1:t>
            </ns1:r>
            <ns1:endParaRPr sz="1450" b="1">
              <ns1:solidFill>
                <ns1:srgbClr val="072146"/>
              </ns1:solidFill>
              <ns1:latin typeface="微软雅黑" panose="020B0503020204020204" charset="-122"/>
            </ns1:endParaRPr>
          </ns1:p>
        </ns0:txBody>
      </ns0:sp>
      <ns0:sp>
        <ns0:nvSpPr>
          <ns0:cNvPr id="24" name="TextBox 23"/>
          <ns0:cNvSpPr txBox="1"/>
          <ns0:nvPr/>
        </ns0:nvSpPr>
        <ns0:spPr>
          <ns1:xfrm>
            <ns1:off x="9381744" y="2423160"/>
            <ns1:ext cx="1920240" cy="192024"/>
          </ns1:xfrm>
          <ns1:prstGeom prst="rect">
            <ns1:avLst/>
          </ns1:prstGeom>
          <ns1:noFill/>
        </ns0:spPr>
        <ns0:txBody>
          <ns1:bodyPr wrap="square">
            <ns1:spAutoFit/>
          </ns1:bodyPr>
          <ns1:lstStyle/>
          <ns1:p>
            <ns1:pPr algn="ctr"/>
            <ns1:r>
              <ns1:rPr sz="950" b="0">
                <ns1:solidFill>
                  <ns1:srgbClr val="606770"/>
                </ns1:solidFill>
                <ns1:latin typeface="微软雅黑" panose="020B0503020204020204" charset="-122"/>
              </ns1:rPr>
              <ns1:t>准确率 / 误报率 / 延迟 / 一致性</ns1:t>
            </ns1:r>
            <ns1:endParaRPr sz="950" b="0">
              <ns1:solidFill>
                <ns1:srgbClr val="606770"/>
              </ns1:solidFill>
              <ns1:latin typeface="微软雅黑" panose="020B0503020204020204" charset="-122"/>
            </ns1:endParaRPr>
          </ns1:p>
        </ns0:txBody>
      </ns0:sp>
      <ns0:sp>
        <ns0:nvSpPr>
          <ns0:cNvPr id="25" name="Rounded Rectangle 24"/>
          <ns0:cNvSpPr/>
          <ns0:nvPr/>
        </ns0:nvSpPr>
        <ns0:spPr>
          <ns1:xfrm>
            <ns1:off x="822960" y="3337560"/>
            <ns1:ext cx="5257800" cy="2240280"/>
          </ns1:xfrm>
          <ns1:prstGeom prst="roundRect">
            <ns1:avLst/>
          </ns1:prstGeom>
          <ns1:solidFill>
            <ns1:srgbClr val="FFFFFF"/>
          </ns1:solidFill>
          <ns1:ln w="12700">
            <ns1:solidFill>
              <ns1:srgbClr val="EAF0F8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  <ns0:sp>
        <ns0:nvSpPr>
          <ns0:cNvPr id="26" name="Rectangle 25"/>
          <ns0:cNvSpPr/>
          <ns0:nvPr/>
        </ns0:nvSpPr>
        <ns0:spPr>
          <ns1:xfrm>
            <ns1:off x="822960" y="3337560"/>
            <ns1:ext cx="73152" cy="2240280"/>
          </ns1:xfrm>
          <ns1:prstGeom prst="rect">
            <ns1:avLst/>
          </ns1:prstGeom>
          <ns1:solidFill>
            <ns1:srgbClr val="D7B169"/>
          </ns1:solidFill>
          <ns1:ln>
            <ns1:noFill/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  <ns0:sp>
        <ns0:nvSpPr>
          <ns0:cNvPr id="27" name="TextBox 26"/>
          <ns0:cNvSpPr txBox="1"/>
          <ns0:nvPr/>
        </ns0:nvSpPr>
        <ns0:spPr>
          <ns1:xfrm>
            <ns1:off x="1024128" y="3502152"/>
            <ns1:ext cx="4910328" cy="256032"/>
          </ns1:xfrm>
          <ns1:prstGeom prst="rect">
            <ns1:avLst/>
          </ns1:prstGeom>
          <ns1:noFill/>
        </ns0:spPr>
        <ns0:txBody>
          <ns1:bodyPr wrap="square">
            <ns1:spAutoFit/>
          </ns1:bodyPr>
          <ns1:lstStyle/>
          <ns1:p>
            <ns1:pPr algn="l"/>
            <ns1:r>
              <ns1:rPr sz="1400" b="1">
                <ns1:solidFill>
                  <ns1:srgbClr val="072146"/>
                </ns1:solidFill>
                <ns1:latin typeface="微软雅黑" panose="020B0503020204020204" charset="-122"/>
              </ns1:rPr>
              <ns1:t>我的具体工作</ns1:t>
            </ns1:r>
            <ns1:endParaRPr sz="1400" b="1">
              <ns1:solidFill>
                <ns1:srgbClr val="072146"/>
              </ns1:solidFill>
              <ns1:latin typeface="微软雅黑" panose="020B0503020204020204" charset="-122"/>
            </ns1:endParaRPr>
          </ns1:p>
        </ns0:txBody>
      </ns0:sp>
      <ns0:sp>
        <ns0:nvSpPr>
          <ns0:cNvPr id="28" name="TextBox 27"/>
          <ns0:cNvSpPr txBox="1"/>
          <ns0:nvPr/>
        </ns0:nvSpPr>
        <ns0:spPr>
          <ns1:xfrm>
            <ns1:off x="1024128" y="3867911"/>
            <ns1:ext cx="4910328" cy="1600200"/>
          </ns1:xfrm>
          <ns1:prstGeom prst="rect">
            <ns1:avLst/>
          </ns1:prstGeom>
          <ns1:noFill/>
        </ns0:spPr>
        <ns0:txBody>
          <ns1:bodyPr wrap="square">
            <ns1:spAutoFit/>
          </ns1:bodyPr>
          <ns1:lstStyle/>
          <ns1:p>
            <ns1:pPr>
              <ns1:lnSpc>
                <ns1:spcPct val="95000"/>
              </ns1:lnSpc>
              <ns1:spcAft>
                <ns1:spcPts val="600"/>
              </ns1:spcAft>
            </ns1:pPr>
            <ns1:r>
              <ns1:rPr sz="1100" b="0">
                <ns1:solidFill>
                  <ns1:srgbClr val="262D37"/>
                </ns1:solidFill>
                <ns1:latin typeface="微软雅黑" panose="020B0503020204020204" charset="-122"/>
              </ns1:rPr>
              <ns1:t>评测设计：定义异常类型、风险等级、视觉证据、处理建议等字段</ns1:t>
            </ns1:r>
            <ns1:endParaRPr sz="1100" b="0">
              <ns1:solidFill>
                <ns1:srgbClr val="262D37"/>
              </ns1:solidFill>
              <ns1:latin typeface="微软雅黑" panose="020B0503020204020204" charset="-122"/>
            </ns1:endParaRPr>
          </ns1:p>
          <ns1:p>
            <ns1:pPr>
              <ns1:lnSpc>
                <ns1:spcPct val="95000"/>
              </ns1:lnSpc>
              <ns1:spcAft>
                <ns1:spcPts val="600"/>
              </ns1:spcAft>
            </ns1:pPr>
            <ns1:r>
              <ns1:rPr sz="1100" b="0">
                <ns1:solidFill>
                  <ns1:srgbClr val="262D37"/>
                </ns1:solidFill>
                <ns1:latin typeface="微软雅黑" panose="020B0503020204020204" charset="-122"/>
              </ns1:rPr>
              <ns1:t>基线验证：已补 SVM 小样本二分类；ST-GCN 作为后续复现计划</ns1:t>
            </ns1:r>
            <ns1:endParaRPr sz="1100" b="0">
              <ns1:solidFill>
                <ns1:srgbClr val="262D37"/>
              </ns1:solidFill>
              <ns1:latin typeface="微软雅黑" panose="020B0503020204020204" charset="-122"/>
            </ns1:endParaRPr>
          </ns1:p>
          <ns1:p>
            <ns1:pPr>
              <ns1:lnSpc>
                <ns1:spcPct val="95000"/>
              </ns1:lnSpc>
              <ns1:spcAft>
                <ns1:spcPts val="600"/>
              </ns1:spcAft>
            </ns1:pPr>
            <ns1:r>
              <ns1:rPr sz="1100" b="0">
                <ns1:solidFill>
                  <ns1:srgbClr val="262D37"/>
                </ns1:solidFill>
                <ns1:latin typeface="微软雅黑" panose="020B0503020204020204" charset="-122"/>
              </ns1:rPr>
              <ns1:t>知识检索：整理健康监护知识条目与问答模板，探索可追溯回答</ns1:t>
            </ns1:r>
            <ns1:endParaRPr sz="1100" b="0">
              <ns1:solidFill>
                <ns1:srgbClr val="262D37"/>
              </ns1:solidFill>
              <ns1:latin typeface="微软雅黑" panose="020B0503020204020204" charset="-122"/>
            </ns1:endParaRPr>
          </ns1:p>
          <ns1:p>
            <ns1:pPr>
              <ns1:lnSpc>
                <ns1:spcPct val="95000"/>
              </ns1:lnSpc>
              <ns1:spcAft>
                <ns1:spcPts val="600"/>
              </ns1:spcAft>
            </ns1:pPr>
            <ns1:r>
              <ns1:rPr sz="1100" b="0">
                <ns1:solidFill>
                  <ns1:srgbClr val="262D37"/>
                </ns1:solidFill>
                <ns1:latin typeface="微软雅黑" panose="020B0503020204020204" charset="-122"/>
              </ns1:rPr>
              <ns1:t>误差分析：围绕准确率、解释一致性、误报率、推理延迟记录失败案例</ns1:t>
            </ns1:r>
            <ns1:endParaRPr sz="1100" b="0">
              <ns1:solidFill>
                <ns1:srgbClr val="262D37"/>
              </ns1:solidFill>
              <ns1:latin typeface="微软雅黑" panose="020B0503020204020204" charset="-122"/>
            </ns1:endParaRPr>
          </ns1:p>
        </ns0:txBody>
      </ns0:sp>
      <ns0:sp>
        <ns0:nvSpPr>
          <ns0:cNvPr id="29" name="Rounded Rectangle 28"/>
          <ns0:cNvSpPr/>
          <ns0:nvPr/>
        </ns0:nvSpPr>
        <ns0:spPr>
          <ns1:xfrm>
            <ns1:off x="6355080" y="3337560"/>
            <ns1:ext cx="4983480" cy="2240280"/>
          </ns1:xfrm>
          <ns1:prstGeom prst="roundRect">
            <ns1:avLst/>
          </ns1:prstGeom>
          <ns1:solidFill>
            <ns1:srgbClr val="FFFFFF"/>
          </ns1:solidFill>
          <ns1:ln w="12700">
            <ns1:solidFill>
              <ns1:srgbClr val="EAF0F8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  <ns0:sp>
        <ns0:nvSpPr>
          <ns0:cNvPr id="30" name="Rectangle 29"/>
          <ns0:cNvSpPr/>
          <ns0:nvPr/>
        </ns0:nvSpPr>
        <ns0:spPr>
          <ns1:xfrm>
            <ns1:off x="6355080" y="3337560"/>
            <ns1:ext cx="73152" cy="2240280"/>
          </ns1:xfrm>
          <ns1:prstGeom prst="rect">
            <ns1:avLst/>
          </ns1:prstGeom>
          <ns1:solidFill>
            <ns1:srgbClr val="072146"/>
          </ns1:solidFill>
          <ns1:ln>
            <ns1:noFill/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  <ns0:sp>
        <ns0:nvSpPr>
          <ns0:cNvPr id="31" name="TextBox 30"/>
          <ns0:cNvSpPr txBox="1"/>
          <ns0:nvPr/>
        </ns0:nvSpPr>
        <ns0:spPr>
          <ns1:xfrm>
            <ns1:off x="6556248" y="3502152"/>
            <ns1:ext cx="4636008" cy="256032"/>
          </ns1:xfrm>
          <ns1:prstGeom prst="rect">
            <ns1:avLst/>
          </ns1:prstGeom>
          <ns1:noFill/>
        </ns0:spPr>
        <ns0:txBody>
          <ns1:bodyPr wrap="square">
            <ns1:spAutoFit/>
          </ns1:bodyPr>
          <ns1:lstStyle/>
          <ns1:p>
            <ns1:pPr algn="l"/>
            <ns1:r>
              <ns1:rPr sz="1400" b="1">
                <ns1:solidFill>
                  <ns1:srgbClr val="072146"/>
                </ns1:solidFill>
                <ns1:latin typeface="微软雅黑" panose="020B0503020204020204" charset="-122"/>
              </ns1:rPr>
              <ns1:t>阶段成果与收获</ns1:t>
            </ns1:r>
            <ns1:endParaRPr sz="1400" b="1">
              <ns1:solidFill>
                <ns1:srgbClr val="072146"/>
              </ns1:solidFill>
              <ns1:latin typeface="微软雅黑" panose="020B0503020204020204" charset="-122"/>
            </ns1:endParaRPr>
          </ns1:p>
        </ns0:txBody>
      </ns0:sp>
      <ns0:sp>
        <ns0:nvSpPr>
          <ns0:cNvPr id="32" name="TextBox 31"/>
          <ns0:cNvSpPr txBox="1"/>
          <ns0:nvPr/>
        </ns0:nvSpPr>
        <ns0:spPr>
          <ns1:xfrm>
            <ns1:off x="6556248" y="3867911"/>
            <ns1:ext cx="4636008" cy="1600200"/>
          </ns1:xfrm>
          <ns1:prstGeom prst="rect">
            <ns1:avLst/>
          </ns1:prstGeom>
          <ns1:noFill/>
        </ns0:spPr>
        <ns0:txBody>
          <ns1:bodyPr wrap="square">
            <ns1:spAutoFit/>
          </ns1:bodyPr>
          <ns1:lstStyle/>
          <ns1:p>
            <ns1:pPr>
              <ns1:lnSpc>
                <ns1:spcPct val="95000"/>
              </ns1:lnSpc>
              <ns1:spcAft>
                <ns1:spcPts val="600"/>
              </ns1:spcAft>
            </ns1:pPr>
            <ns1:r>
              <ns1:rPr sz="1100" b="0">
                <ns1:solidFill>
                  <ns1:srgbClr val="262D37"/>
                </ns1:solidFill>
                <ns1:latin typeface="微软雅黑" panose="020B0503020204020204" charset="-122"/>
              </ns1:rPr>
              <ns1:t>已沉淀评测字段、离线输出、真实失败案例与审计文档</ns1:t>
            </ns1:r>
            <ns1:endParaRPr sz="1100" b="0">
              <ns1:solidFill>
                <ns1:srgbClr val="262D37"/>
              </ns1:solidFill>
              <ns1:latin typeface="微软雅黑" panose="020B0503020204020204" charset="-122"/>
            </ns1:endParaRPr>
          </ns1:p>
          <ns1:p>
            <ns1:pPr>
              <ns1:lnSpc>
                <ns1:spcPct val="95000"/>
              </ns1:lnSpc>
              <ns1:spcAft>
                <ns1:spcPts val="600"/>
              </ns1:spcAft>
            </ns1:pPr>
            <ns1:r>
              <ns1:rPr sz="1100" b="0">
                <ns1:solidFill>
                  <ns1:srgbClr val="262D37"/>
                </ns1:solidFill>
                <ns1:latin typeface="微软雅黑" panose="020B0503020204020204" charset="-122"/>
              </ns1:rPr>
              <ns1:t>初步形成“问题定义—离线闭环—指标—误差分析”的训练闭环</ns1:t>
            </ns1:r>
            <ns1:endParaRPr sz="1100" b="0">
              <ns1:solidFill>
                <ns1:srgbClr val="262D37"/>
              </ns1:solidFill>
              <ns1:latin typeface="微软雅黑" panose="020B0503020204020204" charset="-122"/>
            </ns1:endParaRPr>
          </ns1:p>
          <ns1:p>
            <ns1:pPr>
              <ns1:lnSpc>
                <ns1:spcPct val="95000"/>
              </ns1:lnSpc>
              <ns1:spcAft>
                <ns1:spcPts val="600"/>
              </ns1:spcAft>
            </ns1:pPr>
            <ns1:r>
              <ns1:rPr sz="1100" b="0">
                <ns1:solidFill>
                  <ns1:srgbClr val="262D37"/>
                </ns1:solidFill>
                <ns1:latin typeface="微软雅黑" panose="020B0503020204020204" charset="-122"/>
              </ns1:rPr>
              <ns1:t>认识到异常理解不只看类别，还要判断时间、轨迹、空间关系与证据链</ns1:t>
            </ns1:r>
            <ns1:endParaRPr sz="1100" b="0">
              <ns1:solidFill>
                <ns1:srgbClr val="262D37"/>
              </ns1:solidFill>
              <ns1:latin typeface="微软雅黑" panose="020B0503020204020204" charset="-122"/>
            </ns1:endParaRPr>
          </ns1:p>
        </ns0:txBody>
      </ns0:sp>
      <ns0:sp>
        <ns0:nvSpPr>
          <ns0:cNvPr id="33" name="Rectangle 32"/>
          <ns0:cNvSpPr/>
          <ns0:nvPr/>
        </ns0:nvSpPr>
        <ns0:spPr>
          <ns1:xfrm>
            <ns1:off x="594360" y="6464808"/>
            <ns1:ext cx="10991088" cy="146304"/>
          </ns1:xfrm>
          <ns1:prstGeom prst="rect">
            <ns1:avLst/>
          </ns1:prstGeom>
          <ns1:solidFill>
            <ns1:srgbClr val="072146"/>
          </ns1:solidFill>
          <ns1:ln>
            <ns1:noFill/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  <ns0:sp>
        <ns0:nvSpPr>
          <ns0:cNvPr id="34" name="TextBox 33"/>
          <ns0:cNvSpPr txBox="1"/>
          <ns0:nvPr/>
        </ns0:nvSpPr>
        <ns0:spPr>
          <ns1:xfrm>
            <ns1:off x="777240" y="6478524"/>
            <ns1:ext cx="10607040" cy="128016"/>
          </ns1:xfrm>
          <ns1:prstGeom prst="rect">
            <ns1:avLst/>
          </ns1:prstGeom>
          <ns1:noFill/>
        </ns0:spPr>
        <ns0:txBody>
          <ns1:bodyPr wrap="square" anchor="ctr">
            <ns1:spAutoFit/>
          </ns1:bodyPr>
          <ns1:lstStyle/>
          <ns1:p>
            <ns1:pPr algn="ctr"/>
            <ns1:r>
              <ns1:rPr sz="650" b="0">
                <ns1:solidFill>
                  <ns1:srgbClr val="EEDAA6"/>
                </ns1:solidFill>
                <ns1:latin typeface="微软雅黑" panose="020B0503020204020204" charset="-122"/>
              </ns1:rPr>
              <ns1:t>&gt;&gt;&gt;&gt;&gt;&gt; 教育背景 · 科研经历 · 思考总结 · 未来规划 &lt;&lt;&lt;&lt;&lt;&lt;</ns1:t>
            </ns1:r>
            <ns1:endParaRPr sz="650" b="0">
              <ns1:solidFill>
                <ns1:srgbClr val="EEDAA6"/>
              </ns1:solidFill>
              <ns1:latin typeface="微软雅黑" panose="020B0503020204020204" charset="-122"/>
            </ns1:endParaRPr>
          </ns1:p>
        </ns0:txBody>
      </ns0:sp>
    </ns0:spTree>
  </ns0:cSld>
  <ns0:clrMapOvr>
    <ns1:masterClrMapping/>
  </ns0:clrMapOvr>
</ns0:sld>
</file>

<file path=ppt/slides/slide5.xml><?xml version="1.0" encoding="utf-8"?>
<ns0:sld xmlns:ns0="http://schemas.openxmlformats.org/presentationml/2006/main" xmlns:ns1="http://schemas.openxmlformats.org/drawingml/2006/main">
  <ns0:cSld>
    <ns0:spTree>
      <ns0:nvGrpSpPr>
        <ns0:cNvPr id="1" name=""/>
        <ns0:cNvGrpSpPr/>
        <ns0:nvPr/>
      </ns0:nvGrpSpPr>
      <ns0:grpSpPr/>
      <ns0:sp>
        <ns0:nvSpPr>
          <ns0:cNvPr id="2" name="Rectangle 1"/>
          <ns0:cNvSpPr/>
          <ns0:nvPr/>
        </ns0:nvSpPr>
        <ns0:spPr>
          <ns1:xfrm>
            <ns1:off x="0" y="0"/>
            <ns1:ext cx="12191695" cy="6858000"/>
          </ns1:xfrm>
          <ns1:prstGeom prst="rect">
            <ns1:avLst/>
          </ns1:prstGeom>
          <ns1:solidFill>
            <ns1:srgbClr val="FFFFFF"/>
          </ns1:solidFill>
          <ns1:ln>
            <ns1:noFill/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  <ns0:sp>
        <ns0:nvSpPr>
          <ns0:cNvPr id="3" name="Rectangle 2"/>
          <ns0:cNvSpPr/>
          <ns0:nvPr/>
        </ns0:nvSpPr>
        <ns0:spPr>
          <ns1:xfrm>
            <ns1:off x="0" y="0"/>
            <ns1:ext cx="12191695" cy="146304"/>
          </ns1:xfrm>
          <ns1:prstGeom prst="rect">
            <ns1:avLst/>
          </ns1:prstGeom>
          <ns1:solidFill>
            <ns1:srgbClr val="D7B169"/>
          </ns1:solidFill>
          <ns1:ln>
            <ns1:noFill/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  <ns0:sp>
        <ns0:nvSpPr>
          <ns0:cNvPr id="4" name="Rectangle 3"/>
          <ns0:cNvSpPr/>
          <ns0:nvPr/>
        </ns0:nvSpPr>
        <ns0:spPr>
          <ns1:xfrm>
            <ns1:off x="502920" y="301752"/>
            <ns1:ext cx="11201400" cy="530352"/>
          </ns1:xfrm>
          <ns1:prstGeom prst="rect">
            <ns1:avLst/>
          </ns1:prstGeom>
          <ns1:solidFill>
            <ns1:srgbClr val="072146"/>
          </ns1:solidFill>
          <ns1:ln>
            <ns1:noFill/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  <ns0:sp>
        <ns0:nvSpPr>
          <ns0:cNvPr id="5" name="Rectangle 4"/>
          <ns0:cNvSpPr/>
          <ns0:nvPr/>
        </ns0:nvSpPr>
        <ns0:spPr>
          <ns1:xfrm>
            <ns1:off x="502920" y="832104"/>
            <ns1:ext cx="11201400" cy="41148"/>
          </ns1:xfrm>
          <ns1:prstGeom prst="rect">
            <ns1:avLst/>
          </ns1:prstGeom>
          <ns1:solidFill>
            <ns1:srgbClr val="D7B169"/>
          </ns1:solidFill>
          <ns1:ln>
            <ns1:noFill/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  <ns0:sp>
        <ns0:nvSpPr>
          <ns0:cNvPr id="6" name="TextBox 5"/>
          <ns0:cNvSpPr txBox="1"/>
          <ns0:nvPr/>
        </ns0:nvSpPr>
        <ns0:spPr>
          <ns1:xfrm>
            <ns1:off x="749808" y="416052"/>
            <ns1:ext cx="9646920" cy="201168"/>
          </ns1:xfrm>
          <ns1:prstGeom prst="rect">
            <ns1:avLst/>
          </ns1:prstGeom>
          <ns1:noFill/>
        </ns0:spPr>
        <ns0:txBody>
          <ns1:bodyPr wrap="square" anchor="ctr">
            <ns1:spAutoFit/>
          </ns1:bodyPr>
          <ns1:lstStyle/>
          <ns1:p>
            <ns1:pPr algn="l"/>
            <ns1:r>
              <ns1:rPr sz="1600" b="1">
                <ns1:solidFill>
                  <ns1:srgbClr val="FFFFFF"/>
                </ns1:solidFill>
                <ns1:latin typeface="微软雅黑" panose="020B0503020204020204" charset="-122"/>
              </ns1:rPr>
              <ns1:t>思考总结：从应用项目走向图计算与系统研究</ns1:t>
            </ns1:r>
            <ns1:endParaRPr sz="1600" b="1">
              <ns1:solidFill>
                <ns1:srgbClr val="FFFFFF"/>
              </ns1:solidFill>
              <ns1:latin typeface="微软雅黑" panose="020B0503020204020204" charset="-122"/>
            </ns1:endParaRPr>
          </ns1:p>
        </ns0:txBody>
      </ns0:sp>
      <ns0:sp>
        <ns0:nvSpPr>
          <ns0:cNvPr id="7" name="TextBox 6"/>
          <ns0:cNvSpPr txBox="1"/>
          <ns0:nvPr/>
        </ns0:nvSpPr>
        <ns0:spPr>
          <ns1:xfrm>
            <ns1:off x="10387584" y="425196"/>
            <ns1:ext cx="987552" cy="164592"/>
          </ns1:xfrm>
          <ns1:prstGeom prst="rect">
            <ns1:avLst/>
          </ns1:prstGeom>
          <ns1:noFill/>
        </ns0:spPr>
        <ns0:txBody>
          <ns1:bodyPr wrap="square" anchor="ctr">
            <ns1:spAutoFit/>
          </ns1:bodyPr>
          <ns1:lstStyle/>
          <ns1:p>
            <ns1:pPr algn="r"/>
            <ns1:r>
              <ns1:rPr sz="950" b="0">
                <ns1:solidFill>
                  <ns1:srgbClr val="EEDAA6"/>
                </ns1:solidFill>
                <ns1:latin typeface="微软雅黑" panose="020B0503020204020204" charset="-122"/>
              </ns1:rPr>
              <ns1:t>第三部分</ns1:t>
            </ns1:r>
            <ns1:endParaRPr sz="950" b="0">
              <ns1:solidFill>
                <ns1:srgbClr val="EEDAA6"/>
              </ns1:solidFill>
              <ns1:latin typeface="微软雅黑" panose="020B0503020204020204" charset="-122"/>
            </ns1:endParaRPr>
          </ns1:p>
        </ns0:txBody>
      </ns0:sp>
      <ns0:sp>
        <ns0:nvSpPr>
          <ns0:cNvPr id="8" name="TextBox 7"/>
          <ns0:cNvSpPr txBox="1"/>
          <ns0:nvPr/>
        </ns0:nvSpPr>
        <ns0:spPr>
          <ns1:xfrm>
            <ns1:off x="694944" y="987552"/>
            <ns1:ext cx="9875520" cy="182880"/>
          </ns1:xfrm>
          <ns1:prstGeom prst="rect">
            <ns1:avLst/>
          </ns1:prstGeom>
          <ns1:noFill/>
        </ns0:spPr>
        <ns0:txBody>
          <ns1:bodyPr wrap="square">
            <ns1:spAutoFit/>
          </ns1:bodyPr>
          <ns1:lstStyle/>
          <ns1:p>
            <ns1:pPr algn="l"/>
            <ns1:r>
              <ns1:rPr sz="1020" b="0">
                <ns1:solidFill>
                  <ns1:srgbClr val="606770"/>
                </ns1:solidFill>
                <ns1:latin typeface="微软雅黑" panose="020B0503020204020204" charset="-122"/>
              </ns1:rPr>
              <ns1:t>个人积累与课题组方向的连接</ns1:t>
            </ns1:r>
            <ns1:endParaRPr sz="1020" b="0">
              <ns1:solidFill>
                <ns1:srgbClr val="606770"/>
              </ns1:solidFill>
              <ns1:latin typeface="微软雅黑" panose="020B0503020204020204" charset="-122"/>
            </ns1:endParaRPr>
          </ns1:p>
        </ns0:txBody>
      </ns0:sp>
      <ns0:sp>
        <ns0:nvSpPr>
          <ns0:cNvPr id="9" name="TextBox 8"/>
          <ns0:cNvSpPr txBox="1"/>
          <ns0:nvPr/>
        </ns0:nvSpPr>
        <ns0:spPr>
          <ns1:xfrm>
            <ns1:off x="841248" y="1298448"/>
            <ns1:ext cx="10561320" cy="347472"/>
          </ns1:xfrm>
          <ns1:prstGeom prst="rect">
            <ns1:avLst/>
          </ns1:prstGeom>
          <ns1:noFill/>
        </ns0:spPr>
        <ns0:txBody>
          <ns1:bodyPr wrap="square">
            <ns1:spAutoFit/>
          </ns1:bodyPr>
          <ns1:lstStyle/>
          <ns1:p>
            <ns1:pPr algn="l"/>
            <ns1:r>
              <ns1:rPr sz="1500" b="1">
                <ns1:solidFill>
                  <ns1:srgbClr val="262D37"/>
                </ns1:solidFill>
                <ns1:latin typeface="微软雅黑" panose="020B0503020204020204" charset="-122"/>
              </ns1:rPr>
              <ns1:t>从异常事件项目出发，我希望把结构化知识、实验评测与工程实现经验，进一步延展到动态图计算与 GNN 系统研究。</ns1:t>
            </ns1:r>
            <ns1:endParaRPr sz="1500" b="1">
              <ns1:solidFill>
                <ns1:srgbClr val="262D37"/>
              </ns1:solidFill>
              <ns1:latin typeface="微软雅黑" panose="020B0503020204020204" charset="-122"/>
            </ns1:endParaRPr>
          </ns1:p>
        </ns0:txBody>
      </ns0:sp>
      <ns0:sp>
        <ns0:nvSpPr>
          <ns0:cNvPr id="10" name="Rounded Rectangle 9"/>
          <ns0:cNvSpPr/>
          <ns0:nvPr/>
        </ns0:nvSpPr>
        <ns0:spPr>
          <ns1:xfrm>
            <ns1:off x="822960" y="1975104"/>
            <ns1:ext cx="3063240" cy="2487168"/>
          </ns1:xfrm>
          <ns1:prstGeom prst="roundRect">
            <ns1:avLst/>
          </ns1:prstGeom>
          <ns1:solidFill>
            <ns1:srgbClr val="F7F8FA"/>
          </ns1:solidFill>
          <ns1:ln w="12700">
            <ns1:solidFill>
              <ns1:srgbClr val="DEE2E8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  <ns0:sp>
        <ns0:nvSpPr>
          <ns0:cNvPr id="11" name="Rounded Rectangle 10"/>
          <ns0:cNvSpPr/>
          <ns0:nvPr/>
        </ns0:nvSpPr>
        <ns0:spPr>
          <ns1:xfrm>
            <ns1:off x="1051560" y="2194560"/>
            <ns1:ext cx="1143000" cy="320040"/>
          </ns1:xfrm>
          <ns1:prstGeom prst="roundRect">
            <ns1:avLst/>
          </ns1:prstGeom>
          <ns1:solidFill>
            <ns1:srgbClr val="072146"/>
          </ns1:solidFill>
          <ns1:ln>
            <ns1:noFill/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  <ns0:sp>
        <ns0:nvSpPr>
          <ns0:cNvPr id="12" name="TextBox 11"/>
          <ns0:cNvSpPr txBox="1"/>
          <ns0:nvPr/>
        </ns0:nvSpPr>
        <ns0:spPr>
          <ns1:xfrm>
            <ns1:off x="1097280" y="2263140"/>
            <ns1:ext cx="1051560" cy="164592"/>
          </ns1:xfrm>
          <ns1:prstGeom prst="rect">
            <ns1:avLst/>
          </ns1:prstGeom>
          <ns1:noFill/>
        </ns0:spPr>
        <ns0:txBody>
          <ns1:bodyPr wrap="square" anchor="ctr">
            <ns1:spAutoFit/>
          </ns1:bodyPr>
          <ns1:lstStyle/>
          <ns1:p>
            <ns1:pPr algn="ctr"/>
            <ns1:r>
              <ns1:rPr sz="950" b="0">
                <ns1:solidFill>
                  <ns1:srgbClr val="FFFFFF"/>
                </ns1:solidFill>
                <ns1:latin typeface="微软雅黑" panose="020B0503020204020204" charset="-122"/>
              </ns1:rPr>
              <ns1:t>已有积累</ns1:t>
            </ns1:r>
            <ns1:endParaRPr sz="950" b="0">
              <ns1:solidFill>
                <ns1:srgbClr val="FFFFFF"/>
              </ns1:solidFill>
              <ns1:latin typeface="微软雅黑" panose="020B0503020204020204" charset="-122"/>
            </ns1:endParaRPr>
          </ns1:p>
        </ns0:txBody>
      </ns0:sp>
      <ns0:sp>
        <ns0:nvSpPr>
          <ns0:cNvPr id="13" name="TextBox 12"/>
          <ns0:cNvSpPr txBox="1"/>
          <ns0:nvPr/>
        </ns0:nvSpPr>
        <ns0:spPr>
          <ns1:xfrm>
            <ns1:off x="1143000" y="2761488"/>
            <ns1:ext cx="2487168" cy="1353312"/>
          </ns1:xfrm>
          <ns1:prstGeom prst="rect">
            <ns1:avLst/>
          </ns1:prstGeom>
          <ns1:noFill/>
        </ns0:spPr>
        <ns0:txBody>
          <ns1:bodyPr wrap="square">
            <ns1:spAutoFit/>
          </ns1:bodyPr>
          <ns1:lstStyle/>
          <ns1:p>
            <ns1:pPr>
              <ns1:lnSpc>
                <ns1:spcPct val="93000"/>
              </ns1:lnSpc>
              <ns1:spcAft>
                <ns1:spcPts val="600"/>
              </ns1:spcAft>
            </ns1:pPr>
            <ns1:r>
              <ns1:rPr sz="1160" b="0">
                <ns1:solidFill>
                  <ns1:srgbClr val="262D37"/>
                </ns1:solidFill>
                <ns1:latin typeface="微软雅黑" panose="020B0503020204020204" charset="-122"/>
              </ns1:rPr>
              <ns1:t>ST-GCN 方法调研</ns1:t>
            </ns1:r>
            <ns1:endParaRPr sz="1160" b="0">
              <ns1:solidFill>
                <ns1:srgbClr val="262D37"/>
              </ns1:solidFill>
              <ns1:latin typeface="微软雅黑" panose="020B0503020204020204" charset="-122"/>
            </ns1:endParaRPr>
          </ns1:p>
          <ns1:p>
            <ns1:pPr>
              <ns1:lnSpc>
                <ns1:spcPct val="93000"/>
              </ns1:lnSpc>
              <ns1:spcAft>
                <ns1:spcPts val="600"/>
              </ns1:spcAft>
            </ns1:pPr>
            <ns1:r>
              <ns1:rPr sz="1160" b="0">
                <ns1:solidFill>
                  <ns1:srgbClr val="262D37"/>
                </ns1:solidFill>
                <ns1:latin typeface="微软雅黑" panose="020B0503020204020204" charset="-122"/>
              </ns1:rPr>
              <ns1:t>本地RAG / GraphRAG思路</ns1:t>
            </ns1:r>
            <ns1:endParaRPr sz="1160" b="0">
              <ns1:solidFill>
                <ns1:srgbClr val="262D37"/>
              </ns1:solidFill>
              <ns1:latin typeface="微软雅黑" panose="020B0503020204020204" charset="-122"/>
            </ns1:endParaRPr>
          </ns1:p>
          <ns1:p>
            <ns1:pPr>
              <ns1:lnSpc>
                <ns1:spcPct val="93000"/>
              </ns1:lnSpc>
              <ns1:spcAft>
                <ns1:spcPts val="600"/>
              </ns1:spcAft>
            </ns1:pPr>
            <ns1:r>
              <ns1:rPr sz="1160" b="0">
                <ns1:solidFill>
                  <ns1:srgbClr val="262D37"/>
                </ns1:solidFill>
                <ns1:latin typeface="微软雅黑" panose="020B0503020204020204" charset="-122"/>
              </ns1:rPr>
              <ns1:t>指标设计与误差分析</ns1:t>
            </ns1:r>
            <ns1:endParaRPr sz="1160" b="0">
              <ns1:solidFill>
                <ns1:srgbClr val="262D37"/>
              </ns1:solidFill>
              <ns1:latin typeface="微软雅黑" panose="020B0503020204020204" charset="-122"/>
            </ns1:endParaRPr>
          </ns1:p>
          <ns1:p>
            <ns1:pPr>
              <ns1:lnSpc>
                <ns1:spcPct val="93000"/>
              </ns1:lnSpc>
              <ns1:spcAft>
                <ns1:spcPts val="600"/>
              </ns1:spcAft>
            </ns1:pPr>
            <ns1:r>
              <ns1:rPr sz="1160" b="0">
                <ns1:solidFill>
                  <ns1:srgbClr val="262D37"/>
                </ns1:solidFill>
                <ns1:latin typeface="微软雅黑" panose="020B0503020204020204" charset="-122"/>
              </ns1:rPr>
              <ns1:t>C++ / Python / Java 工程基础</ns1:t>
            </ns1:r>
            <ns1:endParaRPr sz="1160" b="0">
              <ns1:solidFill>
                <ns1:srgbClr val="262D37"/>
              </ns1:solidFill>
              <ns1:latin typeface="微软雅黑" panose="020B0503020204020204" charset="-122"/>
            </ns1:endParaRPr>
          </ns1:p>
        </ns0:txBody>
      </ns0:sp>
      <ns0:sp>
        <ns0:nvSpPr>
          <ns0:cNvPr id="14" name="TextBox 13"/>
          <ns0:cNvSpPr txBox="1"/>
          <ns0:nvPr/>
        </ns0:nvSpPr>
        <ns0:spPr>
          <ns1:xfrm>
            <ns1:off x="4005072" y="3108960"/>
            <ns1:ext cx="411480" cy="347472"/>
          </ns1:xfrm>
          <ns1:prstGeom prst="rect">
            <ns1:avLst/>
          </ns1:prstGeom>
          <ns1:noFill/>
        </ns0:spPr>
        <ns0:txBody>
          <ns1:bodyPr wrap="square">
            <ns1:spAutoFit/>
          </ns1:bodyPr>
          <ns1:lstStyle/>
          <ns1:p>
            <ns1:pPr algn="ctr"/>
            <ns1:r>
              <ns1:rPr sz="2600" b="1">
                <ns1:solidFill>
                  <ns1:srgbClr val="D7B169"/>
                </ns1:solidFill>
                <ns1:latin typeface="微软雅黑" panose="020B0503020204020204" charset="-122"/>
              </ns1:rPr>
              <ns1:t>→</ns1:t>
            </ns1:r>
            <ns1:endParaRPr sz="2600" b="1">
              <ns1:solidFill>
                <ns1:srgbClr val="D7B169"/>
              </ns1:solidFill>
              <ns1:latin typeface="微软雅黑" panose="020B0503020204020204" charset="-122"/>
            </ns1:endParaRPr>
          </ns1:p>
        </ns0:txBody>
      </ns0:sp>
      <ns0:sp>
        <ns0:nvSpPr>
          <ns0:cNvPr id="15" name="Rounded Rectangle 14"/>
          <ns0:cNvSpPr/>
          <ns0:nvPr/>
        </ns0:nvSpPr>
        <ns0:spPr>
          <ns1:xfrm>
            <ns1:off x="4617720" y="1975104"/>
            <ns1:ext cx="3063240" cy="2487168"/>
          </ns1:xfrm>
          <ns1:prstGeom prst="roundRect">
            <ns1:avLst/>
          </ns1:prstGeom>
          <ns1:solidFill>
            <ns1:srgbClr val="F7F8FA"/>
          </ns1:solidFill>
          <ns1:ln w="12700">
            <ns1:solidFill>
              <ns1:srgbClr val="DEE2E8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  <ns0:sp>
        <ns0:nvSpPr>
          <ns0:cNvPr id="16" name="Rounded Rectangle 15"/>
          <ns0:cNvSpPr/>
          <ns0:nvPr/>
        </ns0:nvSpPr>
        <ns0:spPr>
          <ns1:xfrm>
            <ns1:off x="4846320" y="2194560"/>
            <ns1:ext cx="1143000" cy="320040"/>
          </ns1:xfrm>
          <ns1:prstGeom prst="roundRect">
            <ns1:avLst/>
          </ns1:prstGeom>
          <ns1:solidFill>
            <ns1:srgbClr val="072146"/>
          </ns1:solidFill>
          <ns1:ln>
            <ns1:noFill/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  <ns0:sp>
        <ns0:nvSpPr>
          <ns0:cNvPr id="17" name="TextBox 16"/>
          <ns0:cNvSpPr txBox="1"/>
          <ns0:nvPr/>
        </ns0:nvSpPr>
        <ns0:spPr>
          <ns1:xfrm>
            <ns1:off x="4892040" y="2263140"/>
            <ns1:ext cx="1051560" cy="164592"/>
          </ns1:xfrm>
          <ns1:prstGeom prst="rect">
            <ns1:avLst/>
          </ns1:prstGeom>
          <ns1:noFill/>
        </ns0:spPr>
        <ns0:txBody>
          <ns1:bodyPr wrap="square" anchor="ctr">
            <ns1:spAutoFit/>
          </ns1:bodyPr>
          <ns1:lstStyle/>
          <ns1:p>
            <ns1:pPr algn="ctr"/>
            <ns1:r>
              <ns1:rPr sz="950" b="0">
                <ns1:solidFill>
                  <ns1:srgbClr val="FFFFFF"/>
                </ns1:solidFill>
                <ns1:latin typeface="微软雅黑" panose="020B0503020204020204" charset="-122"/>
              </ns1:rPr>
              <ns1:t>进一步延展</ns1:t>
            </ns1:r>
            <ns1:endParaRPr sz="950" b="0">
              <ns1:solidFill>
                <ns1:srgbClr val="FFFFFF"/>
              </ns1:solidFill>
              <ns1:latin typeface="微软雅黑" panose="020B0503020204020204" charset="-122"/>
            </ns1:endParaRPr>
          </ns1:p>
        </ns0:txBody>
      </ns0:sp>
      <ns0:sp>
        <ns0:nvSpPr>
          <ns0:cNvPr id="18" name="TextBox 17"/>
          <ns0:cNvSpPr txBox="1"/>
          <ns0:nvPr/>
        </ns0:nvSpPr>
        <ns0:spPr>
          <ns1:xfrm>
            <ns1:off x="4937760" y="2761488"/>
            <ns1:ext cx="2487168" cy="1353312"/>
          </ns1:xfrm>
          <ns1:prstGeom prst="rect">
            <ns1:avLst/>
          </ns1:prstGeom>
          <ns1:noFill/>
        </ns0:spPr>
        <ns0:txBody>
          <ns1:bodyPr wrap="square">
            <ns1:spAutoFit/>
          </ns1:bodyPr>
          <ns1:lstStyle/>
          <ns1:p>
            <ns1:pPr>
              <ns1:lnSpc>
                <ns1:spcPct val="93000"/>
              </ns1:lnSpc>
              <ns1:spcAft>
                <ns1:spcPts val="600"/>
              </ns1:spcAft>
            </ns1:pPr>
            <ns1:r>
              <ns1:rPr sz="1160" b="0">
                <ns1:solidFill>
                  <ns1:srgbClr val="262D37"/>
                </ns1:solidFill>
                <ns1:latin typeface="微软雅黑" panose="020B0503020204020204" charset="-122"/>
              </ns1:rPr>
              <ns1:t>动态图 / 时序图表示</ns1:t>
            </ns1:r>
            <ns1:endParaRPr sz="1160" b="0">
              <ns1:solidFill>
                <ns1:srgbClr val="262D37"/>
              </ns1:solidFill>
              <ns1:latin typeface="微软雅黑" panose="020B0503020204020204" charset="-122"/>
            </ns1:endParaRPr>
          </ns1:p>
          <ns1:p>
            <ns1:pPr>
              <ns1:lnSpc>
                <ns1:spcPct val="93000"/>
              </ns1:lnSpc>
              <ns1:spcAft>
                <ns1:spcPts val="600"/>
              </ns1:spcAft>
            </ns1:pPr>
            <ns1:r>
              <ns1:rPr sz="1160" b="0">
                <ns1:solidFill>
                  <ns1:srgbClr val="262D37"/>
                </ns1:solidFill>
                <ns1:latin typeface="微软雅黑" panose="020B0503020204020204" charset="-122"/>
              </ns1:rPr>
              <ns1:t>图划分与增量更新</ns1:t>
            </ns1:r>
            <ns1:endParaRPr sz="1160" b="0">
              <ns1:solidFill>
                <ns1:srgbClr val="262D37"/>
              </ns1:solidFill>
              <ns1:latin typeface="微软雅黑" panose="020B0503020204020204" charset="-122"/>
            </ns1:endParaRPr>
          </ns1:p>
          <ns1:p>
            <ns1:pPr>
              <ns1:lnSpc>
                <ns1:spcPct val="93000"/>
              </ns1:lnSpc>
              <ns1:spcAft>
                <ns1:spcPts val="600"/>
              </ns1:spcAft>
            </ns1:pPr>
            <ns1:r>
              <ns1:rPr sz="1160" b="0">
                <ns1:solidFill>
                  <ns1:srgbClr val="262D37"/>
                </ns1:solidFill>
                <ns1:latin typeface="微软雅黑" panose="020B0503020204020204" charset="-122"/>
              </ns1:rPr>
              <ns1:t>图算法评测与优化</ns1:t>
            </ns1:r>
            <ns1:endParaRPr sz="1160" b="0">
              <ns1:solidFill>
                <ns1:srgbClr val="262D37"/>
              </ns1:solidFill>
              <ns1:latin typeface="微软雅黑" panose="020B0503020204020204" charset="-122"/>
            </ns1:endParaRPr>
          </ns1:p>
          <ns1:p>
            <ns1:pPr>
              <ns1:lnSpc>
                <ns1:spcPct val="93000"/>
              </ns1:lnSpc>
              <ns1:spcAft>
                <ns1:spcPts val="600"/>
              </ns1:spcAft>
            </ns1:pPr>
            <ns1:r>
              <ns1:rPr sz="1160" b="0">
                <ns1:solidFill>
                  <ns1:srgbClr val="262D37"/>
                </ns1:solidFill>
                <ns1:latin typeface="微软雅黑" panose="020B0503020204020204" charset="-122"/>
              </ns1:rPr>
              <ns1:t>GNN 系统训练与推理效率</ns1:t>
            </ns1:r>
            <ns1:endParaRPr sz="1160" b="0">
              <ns1:solidFill>
                <ns1:srgbClr val="262D37"/>
              </ns1:solidFill>
              <ns1:latin typeface="微软雅黑" panose="020B0503020204020204" charset="-122"/>
            </ns1:endParaRPr>
          </ns1:p>
        </ns0:txBody>
      </ns0:sp>
      <ns0:sp>
        <ns0:nvSpPr>
          <ns0:cNvPr id="19" name="TextBox 18"/>
          <ns0:cNvSpPr txBox="1"/>
          <ns0:nvPr/>
        </ns0:nvSpPr>
        <ns0:spPr>
          <ns1:xfrm>
            <ns1:off x="7799832" y="3108960"/>
            <ns1:ext cx="411480" cy="347472"/>
          </ns1:xfrm>
          <ns1:prstGeom prst="rect">
            <ns1:avLst/>
          </ns1:prstGeom>
          <ns1:noFill/>
        </ns0:spPr>
        <ns0:txBody>
          <ns1:bodyPr wrap="square">
            <ns1:spAutoFit/>
          </ns1:bodyPr>
          <ns1:lstStyle/>
          <ns1:p>
            <ns1:pPr algn="ctr"/>
            <ns1:r>
              <ns1:rPr sz="2600" b="1">
                <ns1:solidFill>
                  <ns1:srgbClr val="D7B169"/>
                </ns1:solidFill>
                <ns1:latin typeface="微软雅黑" panose="020B0503020204020204" charset="-122"/>
              </ns1:rPr>
              <ns1:t>→</ns1:t>
            </ns1:r>
            <ns1:endParaRPr sz="2600" b="1">
              <ns1:solidFill>
                <ns1:srgbClr val="D7B169"/>
              </ns1:solidFill>
              <ns1:latin typeface="微软雅黑" panose="020B0503020204020204" charset="-122"/>
            </ns1:endParaRPr>
          </ns1:p>
        </ns0:txBody>
      </ns0:sp>
      <ns0:sp>
        <ns0:nvSpPr>
          <ns0:cNvPr id="20" name="Rounded Rectangle 19"/>
          <ns0:cNvSpPr/>
          <ns0:nvPr/>
        </ns0:nvSpPr>
        <ns0:spPr>
          <ns1:xfrm>
            <ns1:off x="8412480" y="1975104"/>
            <ns1:ext cx="3063240" cy="2487168"/>
          </ns1:xfrm>
          <ns1:prstGeom prst="roundRect">
            <ns1:avLst/>
          </ns1:prstGeom>
          <ns1:solidFill>
            <ns1:srgbClr val="F7F8FA"/>
          </ns1:solidFill>
          <ns1:ln w="12700">
            <ns1:solidFill>
              <ns1:srgbClr val="DEE2E8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  <ns0:sp>
        <ns0:nvSpPr>
          <ns0:cNvPr id="21" name="Rounded Rectangle 20"/>
          <ns0:cNvSpPr/>
          <ns0:nvPr/>
        </ns0:nvSpPr>
        <ns0:spPr>
          <ns1:xfrm>
            <ns1:off x="8641080" y="2194560"/>
            <ns1:ext cx="1143000" cy="320040"/>
          </ns1:xfrm>
          <ns1:prstGeom prst="roundRect">
            <ns1:avLst/>
          </ns1:prstGeom>
          <ns1:solidFill>
            <ns1:srgbClr val="AC4E46"/>
          </ns1:solidFill>
          <ns1:ln>
            <ns1:noFill/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  <ns0:sp>
        <ns0:nvSpPr>
          <ns0:cNvPr id="22" name="TextBox 21"/>
          <ns0:cNvSpPr txBox="1"/>
          <ns0:nvPr/>
        </ns0:nvSpPr>
        <ns0:spPr>
          <ns1:xfrm>
            <ns1:off x="8686800" y="2263140"/>
            <ns1:ext cx="1051560" cy="164592"/>
          </ns1:xfrm>
          <ns1:prstGeom prst="rect">
            <ns1:avLst/>
          </ns1:prstGeom>
          <ns1:noFill/>
        </ns0:spPr>
        <ns0:txBody>
          <ns1:bodyPr wrap="square" anchor="ctr">
            <ns1:spAutoFit/>
          </ns1:bodyPr>
          <ns1:lstStyle/>
          <ns1:p>
            <ns1:pPr algn="ctr"/>
            <ns1:r>
              <ns1:rPr sz="950" b="0">
                <ns1:solidFill>
                  <ns1:srgbClr val="FFFFFF"/>
                </ns1:solidFill>
                <ns1:latin typeface="微软雅黑" panose="020B0503020204020204" charset="-122"/>
              </ns1:rPr>
              <ns1:t>后续补强</ns1:t>
            </ns1:r>
            <ns1:endParaRPr sz="950" b="0">
              <ns1:solidFill>
                <ns1:srgbClr val="FFFFFF"/>
              </ns1:solidFill>
              <ns1:latin typeface="微软雅黑" panose="020B0503020204020204" charset="-122"/>
            </ns1:endParaRPr>
          </ns1:p>
        </ns0:txBody>
      </ns0:sp>
      <ns0:sp>
        <ns0:nvSpPr>
          <ns0:cNvPr id="23" name="TextBox 22"/>
          <ns0:cNvSpPr txBox="1"/>
          <ns0:nvPr/>
        </ns0:nvSpPr>
        <ns0:spPr>
          <ns1:xfrm>
            <ns1:off x="8732520" y="2761488"/>
            <ns1:ext cx="2487168" cy="1353312"/>
          </ns1:xfrm>
          <ns1:prstGeom prst="rect">
            <ns1:avLst/>
          </ns1:prstGeom>
          <ns1:noFill/>
        </ns0:spPr>
        <ns0:txBody>
          <ns1:bodyPr wrap="square">
            <ns1:spAutoFit/>
          </ns1:bodyPr>
          <ns1:lstStyle/>
          <ns1:p>
            <ns1:pPr>
              <ns1:lnSpc>
                <ns1:spcPct val="93000"/>
              </ns1:lnSpc>
              <ns1:spcAft>
                <ns1:spcPts val="600"/>
              </ns1:spcAft>
            </ns1:pPr>
            <ns1:r>
              <ns1:rPr sz="1160" b="0">
                <ns1:solidFill>
                  <ns1:srgbClr val="262D37"/>
                </ns1:solidFill>
                <ns1:latin typeface="微软雅黑" panose="020B0503020204020204" charset="-122"/>
              </ns1:rPr>
              <ns1:t>分布式图计算范式</ns1:t>
            </ns1:r>
            <ns1:endParaRPr sz="1160" b="0">
              <ns1:solidFill>
                <ns1:srgbClr val="262D37"/>
              </ns1:solidFill>
              <ns1:latin typeface="微软雅黑" panose="020B0503020204020204" charset="-122"/>
            </ns1:endParaRPr>
          </ns1:p>
          <ns1:p>
            <ns1:pPr>
              <ns1:lnSpc>
                <ns1:spcPct val="93000"/>
              </ns1:lnSpc>
              <ns1:spcAft>
                <ns1:spcPts val="600"/>
              </ns1:spcAft>
            </ns1:pPr>
            <ns1:r>
              <ns1:rPr sz="1160" b="0">
                <ns1:solidFill>
                  <ns1:srgbClr val="262D37"/>
                </ns1:solidFill>
                <ns1:latin typeface="微软雅黑" panose="020B0503020204020204" charset="-122"/>
              </ns1:rPr>
              <ns1:t>并行算法与复杂度分析</ns1:t>
            </ns1:r>
            <ns1:endParaRPr sz="1160" b="0">
              <ns1:solidFill>
                <ns1:srgbClr val="262D37"/>
              </ns1:solidFill>
              <ns1:latin typeface="微软雅黑" panose="020B0503020204020204" charset="-122"/>
            </ns1:endParaRPr>
          </ns1:p>
          <ns1:p>
            <ns1:pPr>
              <ns1:lnSpc>
                <ns1:spcPct val="93000"/>
              </ns1:lnSpc>
              <ns1:spcAft>
                <ns1:spcPts val="600"/>
              </ns1:spcAft>
            </ns1:pPr>
            <ns1:r>
              <ns1:rPr sz="1160" b="0">
                <ns1:solidFill>
                  <ns1:srgbClr val="262D37"/>
                </ns1:solidFill>
                <ns1:latin typeface="微软雅黑" panose="020B0503020204020204" charset="-122"/>
              </ns1:rPr>
              <ns1:t>系统论文复现能力</ns1:t>
            </ns1:r>
            <ns1:endParaRPr sz="1160" b="0">
              <ns1:solidFill>
                <ns1:srgbClr val="262D37"/>
              </ns1:solidFill>
              <ns1:latin typeface="微软雅黑" panose="020B0503020204020204" charset="-122"/>
            </ns1:endParaRPr>
          </ns1:p>
          <ns1:p>
            <ns1:pPr>
              <ns1:lnSpc>
                <ns1:spcPct val="93000"/>
              </ns1:lnSpc>
              <ns1:spcAft>
                <ns1:spcPts val="600"/>
              </ns1:spcAft>
            </ns1:pPr>
            <ns1:r>
              <ns1:rPr sz="1160" b="0">
                <ns1:solidFill>
                  <ns1:srgbClr val="262D37"/>
                </ns1:solidFill>
                <ns1:latin typeface="微软雅黑" panose="020B0503020204020204" charset="-122"/>
              </ns1:rPr>
              <ns1:t>真实大规模数据实验经验</ns1:t>
            </ns1:r>
            <ns1:endParaRPr sz="1160" b="0">
              <ns1:solidFill>
                <ns1:srgbClr val="262D37"/>
              </ns1:solidFill>
              <ns1:latin typeface="微软雅黑" panose="020B0503020204020204" charset="-122"/>
            </ns1:endParaRPr>
          </ns1:p>
        </ns0:txBody>
      </ns0:sp>
      <ns0:sp>
        <ns0:nvSpPr>
          <ns0:cNvPr id="24" name="Rounded Rectangle 23"/>
          <ns0:cNvSpPr/>
          <ns0:nvPr/>
        </ns0:nvSpPr>
        <ns0:spPr>
          <ns1:xfrm>
            <ns1:off x="868680" y="5010912"/>
            <ns1:ext cx="10469880" cy="502920"/>
          </ns1:xfrm>
          <ns1:prstGeom prst="roundRect">
            <ns1:avLst/>
          </ns1:prstGeom>
          <ns1:solidFill>
            <ns1:srgbClr val="072146"/>
          </ns1:solidFill>
          <ns1:ln>
            <ns1:noFill/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  <ns0:sp>
        <ns0:nvSpPr>
          <ns0:cNvPr id="25" name="TextBox 24"/>
          <ns0:cNvSpPr txBox="1"/>
          <ns0:nvPr/>
        </ns0:nvSpPr>
        <ns0:spPr>
          <ns1:xfrm>
            <ns1:off x="1051560" y="5175504"/>
            <ns1:ext cx="10058400" cy="164592"/>
          </ns1:xfrm>
          <ns1:prstGeom prst="rect">
            <ns1:avLst/>
          </ns1:prstGeom>
          <ns1:noFill/>
        </ns0:spPr>
        <ns0:txBody>
          <ns1:bodyPr wrap="square" anchor="ctr">
            <ns1:spAutoFit/>
          </ns1:bodyPr>
          <ns1:lstStyle/>
          <ns1:p>
            <ns1:pPr algn="ctr"/>
            <ns1:r>
              <ns1:rPr sz="1420" b="1">
                <ns1:solidFill>
                  <ns1:srgbClr val="FFFFFF"/>
                </ns1:solidFill>
                <ns1:latin typeface="微软雅黑" panose="020B0503020204020204" charset="-122"/>
              </ns1:rPr>
              <ns1:t>下一阶段关注点：图结构表示、增量/并行计算、可复现实验评测。</ns1:t>
            </ns1:r>
            <ns1:endParaRPr sz="1420" b="1">
              <ns1:solidFill>
                <ns1:srgbClr val="FFFFFF"/>
              </ns1:solidFill>
              <ns1:latin typeface="微软雅黑" panose="020B0503020204020204" charset="-122"/>
            </ns1:endParaRPr>
          </ns1:p>
        </ns0:txBody>
      </ns0:sp>
      <ns0:sp>
        <ns0:nvSpPr>
          <ns0:cNvPr id="26" name="Rectangle 25"/>
          <ns0:cNvSpPr/>
          <ns0:nvPr/>
        </ns0:nvSpPr>
        <ns0:spPr>
          <ns1:xfrm>
            <ns1:off x="594360" y="6464808"/>
            <ns1:ext cx="10991088" cy="146304"/>
          </ns1:xfrm>
          <ns1:prstGeom prst="rect">
            <ns1:avLst/>
          </ns1:prstGeom>
          <ns1:solidFill>
            <ns1:srgbClr val="072146"/>
          </ns1:solidFill>
          <ns1:ln>
            <ns1:noFill/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  <ns0:sp>
        <ns0:nvSpPr>
          <ns0:cNvPr id="27" name="TextBox 26"/>
          <ns0:cNvSpPr txBox="1"/>
          <ns0:nvPr/>
        </ns0:nvSpPr>
        <ns0:spPr>
          <ns1:xfrm>
            <ns1:off x="777240" y="6478524"/>
            <ns1:ext cx="10607040" cy="128016"/>
          </ns1:xfrm>
          <ns1:prstGeom prst="rect">
            <ns1:avLst/>
          </ns1:prstGeom>
          <ns1:noFill/>
        </ns0:spPr>
        <ns0:txBody>
          <ns1:bodyPr wrap="square" anchor="ctr">
            <ns1:spAutoFit/>
          </ns1:bodyPr>
          <ns1:lstStyle/>
          <ns1:p>
            <ns1:pPr algn="ctr"/>
            <ns1:r>
              <ns1:rPr sz="650" b="0">
                <ns1:solidFill>
                  <ns1:srgbClr val="EEDAA6"/>
                </ns1:solidFill>
                <ns1:latin typeface="微软雅黑" panose="020B0503020204020204" charset="-122"/>
              </ns1:rPr>
              <ns1:t>&gt;&gt;&gt;&gt;&gt;&gt; 教育背景 · 科研经历 · 思考总结 · 未来规划 &lt;&lt;&lt;&lt;&lt;&lt;</ns1:t>
            </ns1:r>
            <ns1:endParaRPr sz="650" b="0">
              <ns1:solidFill>
                <ns1:srgbClr val="EEDAA6"/>
              </ns1:solidFill>
              <ns1:latin typeface="微软雅黑" panose="020B0503020204020204" charset="-122"/>
            </ns1:endParaRPr>
          </ns1:p>
        </ns0:txBody>
      </ns0:sp>
    </ns0:spTree>
  </ns0:cSld>
  <ns0:clrMapOvr>
    <ns1:masterClrMapping/>
  </ns0:clrMapOvr>
</ns0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D7B1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301752"/>
            <a:ext cx="11201400" cy="530352"/>
          </a:xfrm>
          <a:prstGeom prst="rect">
            <a:avLst/>
          </a:prstGeom>
          <a:solidFill>
            <a:srgbClr val="0721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832104"/>
            <a:ext cx="11201400" cy="41148"/>
          </a:xfrm>
          <a:prstGeom prst="rect">
            <a:avLst/>
          </a:prstGeom>
          <a:solidFill>
            <a:srgbClr val="D7B1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9808" y="416052"/>
            <a:ext cx="964692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微软雅黑" panose="020B0503020204020204" charset="-122"/>
              </a:rPr>
              <a:t>竞赛与实践经历</a:t>
            </a:r>
            <a:endParaRPr sz="18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387584" y="425196"/>
            <a:ext cx="987552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50" b="0">
                <a:solidFill>
                  <a:srgbClr val="EEDAA6"/>
                </a:solidFill>
                <a:latin typeface="微软雅黑" panose="020B0503020204020204" charset="-122"/>
              </a:rPr>
              <a:t>第三部分</a:t>
            </a:r>
            <a:endParaRPr sz="950" b="0">
              <a:solidFill>
                <a:srgbClr val="EEDAA6"/>
              </a:solidFill>
              <a:latin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94944" y="987552"/>
            <a:ext cx="9875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20" b="0">
                <a:solidFill>
                  <a:srgbClr val="606770"/>
                </a:solidFill>
                <a:latin typeface="微软雅黑" panose="020B0503020204020204" charset="-122"/>
              </a:rPr>
              <a:t>团队协作、建模分析与工程落地</a:t>
            </a:r>
            <a:endParaRPr sz="1020" b="0">
              <a:solidFill>
                <a:srgbClr val="606770"/>
              </a:solidFill>
              <a:latin typeface="微软雅黑" panose="020B0503020204020204" charset="-122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7651115" y="1349375"/>
            <a:ext cx="3287395" cy="2743200"/>
          </a:xfrm>
          <a:prstGeom prst="rect">
            <a:avLst/>
          </a:prstGeom>
          <a:solidFill>
            <a:srgbClr val="D7B1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22960" y="1353312"/>
            <a:ext cx="5440680" cy="14813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AF0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22960" y="1353312"/>
            <a:ext cx="73152" cy="1481328"/>
          </a:xfrm>
          <a:prstGeom prst="rect">
            <a:avLst/>
          </a:prstGeom>
          <a:solidFill>
            <a:srgbClr val="D7B1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24128" y="1517904"/>
            <a:ext cx="509320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72146"/>
                </a:solidFill>
                <a:latin typeface="微软雅黑" panose="020B0503020204020204" charset="-122"/>
              </a:rPr>
              <a:t>DeepSeek 智能对话系统｜项目负责人</a:t>
            </a:r>
            <a:endParaRPr sz="1400" b="1">
              <a:solidFill>
                <a:srgbClr val="072146"/>
              </a:solidFill>
              <a:latin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024128" y="1883664"/>
            <a:ext cx="5093208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5000"/>
              </a:lnSpc>
              <a:spcAft>
                <a:spcPts val="600"/>
              </a:spcAft>
            </a:pPr>
            <a:r>
              <a:rPr sz="1060" b="0">
                <a:solidFill>
                  <a:srgbClr val="262D37"/>
                </a:solidFill>
                <a:latin typeface="微软雅黑" panose="020B0503020204020204" charset="-122"/>
              </a:rPr>
              <a:t>带领 6 人完成需求分析、方案设计、接口联调、功能演示</a:t>
            </a:r>
            <a:endParaRPr sz="1060" b="0">
              <a:solidFill>
                <a:srgbClr val="262D37"/>
              </a:solidFill>
              <a:latin typeface="微软雅黑" panose="020B0503020204020204" charset="-122"/>
            </a:endParaRPr>
          </a:p>
          <a:p>
            <a:pPr>
              <a:lnSpc>
                <a:spcPct val="95000"/>
              </a:lnSpc>
              <a:spcAft>
                <a:spcPts val="600"/>
              </a:spcAft>
            </a:pPr>
            <a:r>
              <a:rPr sz="1060" b="0">
                <a:solidFill>
                  <a:srgbClr val="262D37"/>
                </a:solidFill>
                <a:latin typeface="微软雅黑" panose="020B0503020204020204" charset="-122"/>
              </a:rPr>
              <a:t>负责 Prompt 模板迭代、多轮对话与异常输入测试</a:t>
            </a:r>
            <a:endParaRPr sz="1060" b="0">
              <a:solidFill>
                <a:srgbClr val="262D37"/>
              </a:solidFill>
              <a:latin typeface="微软雅黑" panose="020B0503020204020204" charset="-122"/>
            </a:endParaRPr>
          </a:p>
          <a:p>
            <a:pPr>
              <a:lnSpc>
                <a:spcPct val="95000"/>
              </a:lnSpc>
              <a:spcAft>
                <a:spcPts val="600"/>
              </a:spcAft>
            </a:pPr>
            <a:r>
              <a:rPr sz="1060" b="0">
                <a:solidFill>
                  <a:srgbClr val="262D37"/>
                </a:solidFill>
                <a:latin typeface="微软雅黑" panose="020B0503020204020204" charset="-122"/>
              </a:rPr>
              <a:t>沉淀 Demo、测试记录、展示材料与开发文档</a:t>
            </a:r>
            <a:endParaRPr sz="1060" b="0">
              <a:solidFill>
                <a:srgbClr val="262D37"/>
              </a:solidFill>
              <a:latin typeface="微软雅黑" panose="020B0503020204020204" charset="-122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822960" y="3035808"/>
            <a:ext cx="5440680" cy="14813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AF0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22960" y="3035808"/>
            <a:ext cx="73152" cy="1481328"/>
          </a:xfrm>
          <a:prstGeom prst="rect">
            <a:avLst/>
          </a:prstGeom>
          <a:solidFill>
            <a:srgbClr val="0721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24128" y="3200400"/>
            <a:ext cx="509320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72146"/>
                </a:solidFill>
                <a:latin typeface="微软雅黑" panose="020B0503020204020204" charset="-122"/>
              </a:rPr>
              <a:t>MCM 美赛｜队长</a:t>
            </a:r>
            <a:endParaRPr sz="1400" b="1">
              <a:solidFill>
                <a:srgbClr val="072146"/>
              </a:solidFill>
              <a:latin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1024128" y="3566160"/>
            <a:ext cx="5093208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5000"/>
              </a:lnSpc>
              <a:spcAft>
                <a:spcPts val="600"/>
              </a:spcAft>
            </a:pPr>
            <a:r>
              <a:rPr sz="1060" b="0">
                <a:solidFill>
                  <a:srgbClr val="262D37"/>
                </a:solidFill>
                <a:latin typeface="微软雅黑" panose="020B0503020204020204" charset="-122"/>
              </a:rPr>
              <a:t>围绕赛事评分公平性建立潜变量模型</a:t>
            </a:r>
            <a:endParaRPr sz="1060" b="0">
              <a:solidFill>
                <a:srgbClr val="262D37"/>
              </a:solidFill>
              <a:latin typeface="微软雅黑" panose="020B0503020204020204" charset="-122"/>
            </a:endParaRPr>
          </a:p>
          <a:p>
            <a:pPr>
              <a:lnSpc>
                <a:spcPct val="95000"/>
              </a:lnSpc>
              <a:spcAft>
                <a:spcPts val="600"/>
              </a:spcAft>
            </a:pPr>
            <a:r>
              <a:rPr sz="1060" b="0">
                <a:solidFill>
                  <a:srgbClr val="262D37"/>
                </a:solidFill>
                <a:latin typeface="微软雅黑" panose="020B0503020204020204" charset="-122"/>
              </a:rPr>
              <a:t>使用 PC-ABC、Logistic 先验、Dirichlet 采样与反事实仿真</a:t>
            </a:r>
            <a:endParaRPr sz="1060" b="0">
              <a:solidFill>
                <a:srgbClr val="262D37"/>
              </a:solidFill>
              <a:latin typeface="微软雅黑" panose="020B0503020204020204" charset="-122"/>
            </a:endParaRPr>
          </a:p>
          <a:p>
            <a:pPr>
              <a:lnSpc>
                <a:spcPct val="95000"/>
              </a:lnSpc>
              <a:spcAft>
                <a:spcPts val="600"/>
              </a:spcAft>
            </a:pPr>
            <a:r>
              <a:rPr sz="1060" b="0">
                <a:solidFill>
                  <a:srgbClr val="262D37"/>
                </a:solidFill>
                <a:latin typeface="微软雅黑" panose="020B0503020204020204" charset="-122"/>
              </a:rPr>
              <a:t>训练了假设设定、不确定性评价与英文论文协作能力</a:t>
            </a:r>
            <a:endParaRPr sz="1060" b="0">
              <a:solidFill>
                <a:srgbClr val="262D37"/>
              </a:solidFill>
              <a:latin typeface="微软雅黑" panose="020B0503020204020204" charset="-122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823595" y="4736465"/>
            <a:ext cx="10194925" cy="131191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AF0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22960" y="4736465"/>
            <a:ext cx="76200" cy="1169670"/>
          </a:xfrm>
          <a:prstGeom prst="rect">
            <a:avLst/>
          </a:prstGeom>
          <a:solidFill>
            <a:srgbClr val="D7B1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24128" y="4901183"/>
            <a:ext cx="984808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72146"/>
                </a:solidFill>
                <a:latin typeface="微软雅黑" panose="020B0503020204020204" charset="-122"/>
              </a:rPr>
              <a:t>机器人与程序设计竞赛</a:t>
            </a:r>
            <a:endParaRPr sz="1400" b="1">
              <a:solidFill>
                <a:srgbClr val="072146"/>
              </a:solidFill>
              <a:latin typeface="微软雅黑" panose="020B0503020204020204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1024128" y="5266944"/>
            <a:ext cx="984808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5000"/>
              </a:lnSpc>
              <a:spcAft>
                <a:spcPts val="600"/>
              </a:spcAft>
            </a:pPr>
            <a:r>
              <a:rPr sz="1050" b="0">
                <a:solidFill>
                  <a:srgbClr val="262D37"/>
                </a:solidFill>
                <a:latin typeface="微软雅黑" panose="020B0503020204020204" charset="-122"/>
              </a:rPr>
              <a:t>ROBOTAC 全国大学生机器人大赛省级一等奖：Lua 控制脚本与参数调优</a:t>
            </a:r>
            <a:endParaRPr sz="1050" b="0">
              <a:solidFill>
                <a:srgbClr val="262D37"/>
              </a:solidFill>
              <a:latin typeface="微软雅黑" panose="020B0503020204020204" charset="-122"/>
            </a:endParaRPr>
          </a:p>
          <a:p>
            <a:pPr>
              <a:lnSpc>
                <a:spcPct val="95000"/>
              </a:lnSpc>
              <a:spcAft>
                <a:spcPts val="600"/>
              </a:spcAft>
            </a:pPr>
            <a:r>
              <a:rPr sz="1050" b="0">
                <a:solidFill>
                  <a:srgbClr val="262D37"/>
                </a:solidFill>
                <a:latin typeface="微软雅黑" panose="020B0503020204020204" charset="-122"/>
              </a:rPr>
              <a:t>蓝桥杯 C/C++ 程序设计大学 B 组一等奖，ACM-ICPC 校级一等奖</a:t>
            </a:r>
            <a:endParaRPr sz="1050" b="0">
              <a:solidFill>
                <a:srgbClr val="262D37"/>
              </a:solidFill>
              <a:latin typeface="微软雅黑" panose="020B0503020204020204" charset="-122"/>
            </a:endParaRPr>
          </a:p>
          <a:p>
            <a:pPr>
              <a:lnSpc>
                <a:spcPct val="95000"/>
              </a:lnSpc>
              <a:spcAft>
                <a:spcPts val="600"/>
              </a:spcAft>
            </a:pPr>
            <a:r>
              <a:rPr sz="1050" b="0">
                <a:solidFill>
                  <a:srgbClr val="262D37"/>
                </a:solidFill>
                <a:latin typeface="微软雅黑" panose="020B0503020204020204" charset="-122"/>
              </a:rPr>
              <a:t>中国机器人及人工智能大赛、睿抗、天梯赛等多项省级奖项</a:t>
            </a:r>
            <a:endParaRPr sz="1050" b="0">
              <a:solidFill>
                <a:srgbClr val="262D37"/>
              </a:solidFill>
              <a:latin typeface="微软雅黑" panose="020B0503020204020204" charset="-122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594360" y="6464808"/>
            <a:ext cx="10991088" cy="146304"/>
          </a:xfrm>
          <a:prstGeom prst="rect">
            <a:avLst/>
          </a:prstGeom>
          <a:solidFill>
            <a:srgbClr val="0721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7240" y="6478524"/>
            <a:ext cx="10607040" cy="1280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50" b="0">
                <a:solidFill>
                  <a:srgbClr val="EEDAA6"/>
                </a:solidFill>
                <a:latin typeface="微软雅黑" panose="020B0503020204020204" charset="-122"/>
              </a:rPr>
              <a:t>&gt;&gt;&gt;&gt;&gt;&gt; 教育背景 · 科研经历 · 思考总结 · 未来规划 &lt;&lt;&lt;&lt;&lt;&lt;</a:t>
            </a:r>
            <a:endParaRPr sz="650" b="0">
              <a:solidFill>
                <a:srgbClr val="EEDAA6"/>
              </a:solidFill>
              <a:latin typeface="微软雅黑" panose="020B0503020204020204" charset="-122"/>
            </a:endParaRPr>
          </a:p>
        </p:txBody>
      </p:sp>
      <p:pic>
        <p:nvPicPr>
          <p:cNvPr id="25" name="图片 2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51115" y="1353820"/>
            <a:ext cx="3286760" cy="272859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D7B1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301752"/>
            <a:ext cx="11201400" cy="530352"/>
          </a:xfrm>
          <a:prstGeom prst="rect">
            <a:avLst/>
          </a:prstGeom>
          <a:solidFill>
            <a:srgbClr val="0721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832104"/>
            <a:ext cx="11201400" cy="41148"/>
          </a:xfrm>
          <a:prstGeom prst="rect">
            <a:avLst/>
          </a:prstGeom>
          <a:solidFill>
            <a:srgbClr val="D7B1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9808" y="416052"/>
            <a:ext cx="964692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微软雅黑" panose="020B0503020204020204" charset="-122"/>
              </a:rPr>
              <a:t>研究兴趣与未来规划</a:t>
            </a:r>
            <a:endParaRPr sz="18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387584" y="425196"/>
            <a:ext cx="987552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50" b="0">
                <a:solidFill>
                  <a:srgbClr val="EEDAA6"/>
                </a:solidFill>
                <a:latin typeface="微软雅黑" panose="020B0503020204020204" charset="-122"/>
              </a:rPr>
              <a:t>第四部分</a:t>
            </a:r>
            <a:endParaRPr sz="950" b="0">
              <a:solidFill>
                <a:srgbClr val="EEDAA6"/>
              </a:solidFill>
              <a:latin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94944" y="987552"/>
            <a:ext cx="9875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20" b="0">
                <a:solidFill>
                  <a:srgbClr val="606770"/>
                </a:solidFill>
                <a:latin typeface="微软雅黑" panose="020B0503020204020204" charset="-122"/>
              </a:rPr>
              <a:t>围绕图结构智能系统持续积累</a:t>
            </a:r>
            <a:endParaRPr sz="1020" b="0">
              <a:solidFill>
                <a:srgbClr val="606770"/>
              </a:solidFill>
              <a:latin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41248" y="1298448"/>
            <a:ext cx="10607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50" b="1">
                <a:solidFill>
                  <a:srgbClr val="072146"/>
                </a:solidFill>
                <a:latin typeface="微软雅黑" panose="020B0503020204020204" charset="-122"/>
              </a:rPr>
              <a:t>研究兴趣：面向真实场景的图结构表示、动态增量计算、图神经网络系统与可信智能评测。</a:t>
            </a:r>
            <a:endParaRPr sz="1550" b="1">
              <a:solidFill>
                <a:srgbClr val="072146"/>
              </a:solidFill>
              <a:latin typeface="微软雅黑" panose="020B0503020204020204" charset="-122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987552" y="5010912"/>
            <a:ext cx="10149840" cy="45720"/>
          </a:xfrm>
          <a:prstGeom prst="rect">
            <a:avLst/>
          </a:prstGeom>
          <a:solidFill>
            <a:srgbClr val="0721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914400" y="1956816"/>
            <a:ext cx="2971800" cy="2523744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2139696"/>
            <a:ext cx="2606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072146"/>
                </a:solidFill>
                <a:latin typeface="微软雅黑" panose="020B0503020204020204" charset="-122"/>
              </a:rPr>
              <a:t>近期准备</a:t>
            </a:r>
            <a:endParaRPr sz="1500" b="1">
              <a:solidFill>
                <a:srgbClr val="072146"/>
              </a:solidFill>
              <a:latin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097280" y="2487168"/>
            <a:ext cx="2606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D7B169"/>
                </a:solidFill>
                <a:latin typeface="微软雅黑" panose="020B0503020204020204" charset="-122"/>
              </a:rPr>
              <a:t>2026-2027</a:t>
            </a:r>
            <a:endParaRPr sz="1000" b="1">
              <a:solidFill>
                <a:srgbClr val="D7B169"/>
              </a:solidFill>
              <a:latin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207008" y="2871216"/>
            <a:ext cx="2450592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5000"/>
              </a:lnSpc>
              <a:spcAft>
                <a:spcPts val="600"/>
              </a:spcAft>
            </a:pPr>
            <a:r>
              <a:rPr sz="1080" b="0">
                <a:solidFill>
                  <a:srgbClr val="262D37"/>
                </a:solidFill>
                <a:latin typeface="微软雅黑" panose="020B0503020204020204" charset="-122"/>
              </a:rPr>
              <a:t>强化大图计算/并行算法基础</a:t>
            </a:r>
            <a:endParaRPr sz="1080" b="0">
              <a:solidFill>
                <a:srgbClr val="262D37"/>
              </a:solidFill>
              <a:latin typeface="微软雅黑" panose="020B0503020204020204" charset="-122"/>
            </a:endParaRPr>
          </a:p>
          <a:p>
            <a:pPr>
              <a:lnSpc>
                <a:spcPct val="95000"/>
              </a:lnSpc>
              <a:spcAft>
                <a:spcPts val="600"/>
              </a:spcAft>
            </a:pPr>
            <a:r>
              <a:rPr sz="1080" b="0">
                <a:solidFill>
                  <a:srgbClr val="262D37"/>
                </a:solidFill>
                <a:latin typeface="微软雅黑" panose="020B0503020204020204" charset="-122"/>
              </a:rPr>
              <a:t>阅读许老师代表作与相关系统论文</a:t>
            </a:r>
            <a:endParaRPr sz="1080" b="0">
              <a:solidFill>
                <a:srgbClr val="262D37"/>
              </a:solidFill>
              <a:latin typeface="微软雅黑" panose="020B0503020204020204" charset="-122"/>
            </a:endParaRPr>
          </a:p>
          <a:p>
            <a:pPr>
              <a:lnSpc>
                <a:spcPct val="95000"/>
              </a:lnSpc>
              <a:spcAft>
                <a:spcPts val="600"/>
              </a:spcAft>
            </a:pPr>
            <a:r>
              <a:rPr sz="1080" b="0">
                <a:solidFill>
                  <a:srgbClr val="262D37"/>
                </a:solidFill>
                <a:latin typeface="微软雅黑" panose="020B0503020204020204" charset="-122"/>
              </a:rPr>
              <a:t>复现 1-2 个图算法 baseline</a:t>
            </a:r>
            <a:endParaRPr sz="1080" b="0">
              <a:solidFill>
                <a:srgbClr val="262D37"/>
              </a:solidFill>
              <a:latin typeface="微软雅黑" panose="020B0503020204020204" charset="-122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2286000" y="4800600"/>
            <a:ext cx="164592" cy="164592"/>
          </a:xfrm>
          <a:prstGeom prst="roundRect">
            <a:avLst/>
          </a:prstGeom>
          <a:solidFill>
            <a:srgbClr val="D7B1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267712" y="4773168"/>
            <a:ext cx="201168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微软雅黑" panose="020B0503020204020204" charset="-122"/>
              </a:rPr>
              <a:t>1</a:t>
            </a:r>
            <a:endParaRPr sz="8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4617720" y="1956816"/>
            <a:ext cx="2971800" cy="2523744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800600" y="2139696"/>
            <a:ext cx="2606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072146"/>
                </a:solidFill>
                <a:latin typeface="微软雅黑" panose="020B0503020204020204" charset="-122"/>
              </a:rPr>
              <a:t>研一</a:t>
            </a:r>
            <a:endParaRPr sz="1500" b="1">
              <a:solidFill>
                <a:srgbClr val="072146"/>
              </a:solidFill>
              <a:latin typeface="微软雅黑" panose="020B050302020402020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4800600" y="2487168"/>
            <a:ext cx="2606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D7B169"/>
                </a:solidFill>
                <a:latin typeface="微软雅黑" panose="020B0503020204020204" charset="-122"/>
              </a:rPr>
              <a:t>课程与入组</a:t>
            </a:r>
            <a:endParaRPr sz="1000" b="1">
              <a:solidFill>
                <a:srgbClr val="D7B169"/>
              </a:solidFill>
              <a:latin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4910328" y="2871216"/>
            <a:ext cx="2450592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5000"/>
              </a:lnSpc>
              <a:spcAft>
                <a:spcPts val="600"/>
              </a:spcAft>
            </a:pPr>
            <a:r>
              <a:rPr sz="1080" b="0">
                <a:solidFill>
                  <a:srgbClr val="262D37"/>
                </a:solidFill>
                <a:latin typeface="微软雅黑" panose="020B0503020204020204" charset="-122"/>
              </a:rPr>
              <a:t>系统学习高级算法、数据库/系统方向课程</a:t>
            </a:r>
            <a:endParaRPr sz="1080" b="0">
              <a:solidFill>
                <a:srgbClr val="262D37"/>
              </a:solidFill>
              <a:latin typeface="微软雅黑" panose="020B0503020204020204" charset="-122"/>
            </a:endParaRPr>
          </a:p>
          <a:p>
            <a:pPr>
              <a:lnSpc>
                <a:spcPct val="95000"/>
              </a:lnSpc>
              <a:spcAft>
                <a:spcPts val="600"/>
              </a:spcAft>
            </a:pPr>
            <a:r>
              <a:rPr sz="1080" b="0">
                <a:solidFill>
                  <a:srgbClr val="262D37"/>
                </a:solidFill>
                <a:latin typeface="微软雅黑" panose="020B0503020204020204" charset="-122"/>
              </a:rPr>
              <a:t>参与组会、读书会和项目实验</a:t>
            </a:r>
            <a:endParaRPr sz="1080" b="0">
              <a:solidFill>
                <a:srgbClr val="262D37"/>
              </a:solidFill>
              <a:latin typeface="微软雅黑" panose="020B0503020204020204" charset="-122"/>
            </a:endParaRPr>
          </a:p>
          <a:p>
            <a:pPr>
              <a:lnSpc>
                <a:spcPct val="95000"/>
              </a:lnSpc>
              <a:spcAft>
                <a:spcPts val="600"/>
              </a:spcAft>
            </a:pPr>
            <a:r>
              <a:rPr sz="1080" b="0">
                <a:solidFill>
                  <a:srgbClr val="262D37"/>
                </a:solidFill>
                <a:latin typeface="微软雅黑" panose="020B0503020204020204" charset="-122"/>
              </a:rPr>
              <a:t>从数据整理、实验脚本、论文复现做起</a:t>
            </a:r>
            <a:endParaRPr sz="1080" b="0">
              <a:solidFill>
                <a:srgbClr val="262D37"/>
              </a:solidFill>
              <a:latin typeface="微软雅黑" panose="020B0503020204020204" charset="-122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5989320" y="4800600"/>
            <a:ext cx="164592" cy="164592"/>
          </a:xfrm>
          <a:prstGeom prst="roundRect">
            <a:avLst/>
          </a:prstGeom>
          <a:solidFill>
            <a:srgbClr val="D7B1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71031" y="4773168"/>
            <a:ext cx="201168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微软雅黑" panose="020B0503020204020204" charset="-122"/>
              </a:rPr>
              <a:t>2</a:t>
            </a:r>
            <a:endParaRPr sz="8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8321040" y="1956816"/>
            <a:ext cx="2971800" cy="2523744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503919" y="2139696"/>
            <a:ext cx="2606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072146"/>
                </a:solidFill>
                <a:latin typeface="微软雅黑" panose="020B0503020204020204" charset="-122"/>
              </a:rPr>
              <a:t>研二及以后</a:t>
            </a:r>
            <a:endParaRPr sz="1500" b="1">
              <a:solidFill>
                <a:srgbClr val="072146"/>
              </a:solidFill>
              <a:latin typeface="微软雅黑" panose="020B050302020402020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8503919" y="2487168"/>
            <a:ext cx="2606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D7B169"/>
                </a:solidFill>
                <a:latin typeface="微软雅黑" panose="020B0503020204020204" charset="-122"/>
              </a:rPr>
              <a:t>课题推进</a:t>
            </a:r>
            <a:endParaRPr sz="1000" b="1">
              <a:solidFill>
                <a:srgbClr val="D7B169"/>
              </a:solidFill>
              <a:latin typeface="微软雅黑" panose="020B0503020204020204" charset="-122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8613648" y="2871216"/>
            <a:ext cx="2450592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5000"/>
              </a:lnSpc>
              <a:spcAft>
                <a:spcPts val="600"/>
              </a:spcAft>
            </a:pPr>
            <a:r>
              <a:rPr sz="1080" b="0">
                <a:solidFill>
                  <a:srgbClr val="262D37"/>
                </a:solidFill>
                <a:latin typeface="微软雅黑" panose="020B0503020204020204" charset="-122"/>
              </a:rPr>
              <a:t>围绕动态图/GNN系统或增量计算形成具体问题</a:t>
            </a:r>
            <a:endParaRPr sz="1080" b="0">
              <a:solidFill>
                <a:srgbClr val="262D37"/>
              </a:solidFill>
              <a:latin typeface="微软雅黑" panose="020B0503020204020204" charset="-122"/>
            </a:endParaRPr>
          </a:p>
          <a:p>
            <a:pPr>
              <a:lnSpc>
                <a:spcPct val="95000"/>
              </a:lnSpc>
              <a:spcAft>
                <a:spcPts val="600"/>
              </a:spcAft>
            </a:pPr>
            <a:r>
              <a:rPr sz="1080" b="0">
                <a:solidFill>
                  <a:srgbClr val="262D37"/>
                </a:solidFill>
                <a:latin typeface="微软雅黑" panose="020B0503020204020204" charset="-122"/>
              </a:rPr>
              <a:t>完成可复现实验、技术报告和论文初稿</a:t>
            </a:r>
            <a:endParaRPr sz="1080" b="0">
              <a:solidFill>
                <a:srgbClr val="262D37"/>
              </a:solidFill>
              <a:latin typeface="微软雅黑" panose="020B0503020204020204" charset="-122"/>
            </a:endParaRPr>
          </a:p>
          <a:p>
            <a:pPr>
              <a:lnSpc>
                <a:spcPct val="95000"/>
              </a:lnSpc>
              <a:spcAft>
                <a:spcPts val="600"/>
              </a:spcAft>
            </a:pPr>
            <a:r>
              <a:rPr sz="1080" b="0">
                <a:solidFill>
                  <a:srgbClr val="262D37"/>
                </a:solidFill>
                <a:latin typeface="微软雅黑" panose="020B0503020204020204" charset="-122"/>
              </a:rPr>
              <a:t>逐步承担模块设计与实验验证</a:t>
            </a:r>
            <a:endParaRPr sz="1080" b="0">
              <a:solidFill>
                <a:srgbClr val="262D37"/>
              </a:solidFill>
              <a:latin typeface="微软雅黑" panose="020B0503020204020204" charset="-122"/>
            </a:endParaRPr>
          </a:p>
        </p:txBody>
      </p:sp>
      <p:sp>
        <p:nvSpPr>
          <p:cNvPr id="27" name="Rounded Rectangle 26"/>
          <p:cNvSpPr/>
          <p:nvPr/>
        </p:nvSpPr>
        <p:spPr>
          <a:xfrm>
            <a:off x="9692640" y="4800600"/>
            <a:ext cx="164592" cy="164592"/>
          </a:xfrm>
          <a:prstGeom prst="roundRect">
            <a:avLst/>
          </a:prstGeom>
          <a:solidFill>
            <a:srgbClr val="D7B1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674352" y="4773168"/>
            <a:ext cx="201168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微软雅黑" panose="020B0503020204020204" charset="-122"/>
              </a:rPr>
              <a:t>3</a:t>
            </a:r>
            <a:endParaRPr sz="8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594360" y="6464808"/>
            <a:ext cx="10991088" cy="146304"/>
          </a:xfrm>
          <a:prstGeom prst="rect">
            <a:avLst/>
          </a:prstGeom>
          <a:solidFill>
            <a:srgbClr val="0721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77240" y="6478524"/>
            <a:ext cx="10607040" cy="1280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50" b="0">
                <a:solidFill>
                  <a:srgbClr val="EEDAA6"/>
                </a:solidFill>
                <a:latin typeface="微软雅黑" panose="020B0503020204020204" charset="-122"/>
              </a:rPr>
              <a:t>&gt;&gt;&gt;&gt;&gt;&gt; 教育背景 · 科研经历 · 思考总结 · 未来规划 &lt;&lt;&lt;&lt;&lt;&lt;</a:t>
            </a:r>
            <a:endParaRPr sz="650" b="0">
              <a:solidFill>
                <a:srgbClr val="EEDAA6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8.xml><?xml version="1.0" encoding="utf-8"?>
<ns0:sld xmlns:ns0="http://schemas.openxmlformats.org/presentationml/2006/main" xmlns:ns1="http://schemas.openxmlformats.org/drawingml/2006/main">
  <ns0:cSld>
    <ns0:spTree>
      <ns0:nvGrpSpPr>
        <ns0:cNvPr id="1" name=""/>
        <ns0:cNvGrpSpPr/>
        <ns0:nvPr/>
      </ns0:nvGrpSpPr>
      <ns0:grpSpPr/>
      <ns0:sp>
        <ns0:nvSpPr>
          <ns0:cNvPr id="2" name="Rectangle 1"/>
          <ns0:cNvSpPr/>
          <ns0:nvPr/>
        </ns0:nvSpPr>
        <ns0:spPr>
          <ns1:xfrm>
            <ns1:off x="0" y="0"/>
            <ns1:ext cx="12191695" cy="6858000"/>
          </ns1:xfrm>
          <ns1:prstGeom prst="rect">
            <ns1:avLst/>
          </ns1:prstGeom>
          <ns1:solidFill>
            <ns1:srgbClr val="FFFFFF"/>
          </ns1:solidFill>
          <ns1:ln>
            <ns1:noFill/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  <ns0:sp>
        <ns0:nvSpPr>
          <ns0:cNvPr id="3" name="Rectangle 2"/>
          <ns0:cNvSpPr/>
          <ns0:nvPr/>
        </ns0:nvSpPr>
        <ns0:spPr>
          <ns1:xfrm>
            <ns1:off x="0" y="0"/>
            <ns1:ext cx="12191695" cy="146304"/>
          </ns1:xfrm>
          <ns1:prstGeom prst="rect">
            <ns1:avLst/>
          </ns1:prstGeom>
          <ns1:solidFill>
            <ns1:srgbClr val="D7B169"/>
          </ns1:solidFill>
          <ns1:ln>
            <ns1:noFill/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  <ns0:sp>
        <ns0:nvSpPr>
          <ns0:cNvPr id="4" name="Rectangle 3"/>
          <ns0:cNvSpPr/>
          <ns0:nvPr/>
        </ns0:nvSpPr>
        <ns0:spPr>
          <ns1:xfrm>
            <ns1:off x="502920" y="301752"/>
            <ns1:ext cx="11201400" cy="530352"/>
          </ns1:xfrm>
          <ns1:prstGeom prst="rect">
            <ns1:avLst/>
          </ns1:prstGeom>
          <ns1:solidFill>
            <ns1:srgbClr val="072146"/>
          </ns1:solidFill>
          <ns1:ln>
            <ns1:noFill/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  <ns0:sp>
        <ns0:nvSpPr>
          <ns0:cNvPr id="5" name="Rectangle 4"/>
          <ns0:cNvSpPr/>
          <ns0:nvPr/>
        </ns0:nvSpPr>
        <ns0:spPr>
          <ns1:xfrm>
            <ns1:off x="502920" y="832104"/>
            <ns1:ext cx="11201400" cy="41148"/>
          </ns1:xfrm>
          <ns1:prstGeom prst="rect">
            <ns1:avLst/>
          </ns1:prstGeom>
          <ns1:solidFill>
            <ns1:srgbClr val="D7B169"/>
          </ns1:solidFill>
          <ns1:ln>
            <ns1:noFill/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  <ns0:sp>
        <ns0:nvSpPr>
          <ns0:cNvPr id="6" name="TextBox 5"/>
          <ns0:cNvSpPr txBox="1"/>
          <ns0:nvPr/>
        </ns0:nvSpPr>
        <ns0:spPr>
          <ns1:xfrm>
            <ns1:off x="749808" y="332486"/>
            <ns1:ext cx="9646920" cy="368300"/>
          </ns1:xfrm>
          <ns1:prstGeom prst="rect">
            <ns1:avLst/>
          </ns1:prstGeom>
          <ns1:noFill/>
        </ns0:spPr>
        <ns0:txBody>
          <ns1:bodyPr wrap="square" anchor="ctr">
            <ns1:spAutoFit/>
          </ns1:bodyPr>
          <ns1:lstStyle/>
          <ns1:p>
            <ns1:pPr algn="l"/>
            <ns1:r>
              <ns1:rPr sz="1800" b="1">
                <ns1:solidFill>
                  <ns1:srgbClr val="FFFFFF"/>
                </ns1:solidFill>
                <ns1:latin typeface="微软雅黑" panose="020B0503020204020204" charset="-122"/>
              </ns1:rPr>
              <ns1:t>为什么选择许老师课题组</ns1:t>
            </ns1:r>
            <ns1:endParaRPr sz="1800" b="1">
              <ns1:solidFill>
                <ns1:srgbClr val="FFFFFF"/>
              </ns1:solidFill>
              <ns1:latin typeface="微软雅黑" panose="020B0503020204020204" charset="-122"/>
            </ns1:endParaRPr>
          </ns1:p>
        </ns0:txBody>
      </ns0:sp>
      <ns0:sp>
        <ns0:nvSpPr>
          <ns0:cNvPr id="7" name="TextBox 6"/>
          <ns0:cNvSpPr txBox="1"/>
          <ns0:nvPr/>
        </ns0:nvSpPr>
        <ns0:spPr>
          <ns1:xfrm>
            <ns1:off x="10387584" y="425196"/>
            <ns1:ext cx="987552" cy="164592"/>
          </ns1:xfrm>
          <ns1:prstGeom prst="rect">
            <ns1:avLst/>
          </ns1:prstGeom>
          <ns1:noFill/>
        </ns0:spPr>
        <ns0:txBody>
          <ns1:bodyPr wrap="square" anchor="ctr">
            <ns1:spAutoFit/>
          </ns1:bodyPr>
          <ns1:lstStyle/>
          <ns1:p>
            <ns1:pPr algn="r"/>
            <ns1:r>
              <ns1:rPr sz="950" b="0">
                <ns1:solidFill>
                  <ns1:srgbClr val="EEDAA6"/>
                </ns1:solidFill>
                <ns1:latin typeface="微软雅黑" panose="020B0503020204020204" charset="-122"/>
              </ns1:rPr>
              <ns1:t>第四部分</ns1:t>
            </ns1:r>
            <ns1:endParaRPr sz="950" b="0">
              <ns1:solidFill>
                <ns1:srgbClr val="EEDAA6"/>
              </ns1:solidFill>
              <ns1:latin typeface="微软雅黑" panose="020B0503020204020204" charset="-122"/>
            </ns1:endParaRPr>
          </ns1:p>
        </ns0:txBody>
      </ns0:sp>
      <ns0:sp>
        <ns0:nvSpPr>
          <ns0:cNvPr id="8" name="TextBox 7"/>
          <ns0:cNvSpPr txBox="1"/>
          <ns0:nvPr/>
        </ns0:nvSpPr>
        <ns0:spPr>
          <ns1:xfrm>
            <ns1:off x="694944" y="987552"/>
            <ns1:ext cx="9875520" cy="182880"/>
          </ns1:xfrm>
          <ns1:prstGeom prst="rect">
            <ns1:avLst/>
          </ns1:prstGeom>
          <ns1:noFill/>
        </ns0:spPr>
        <ns0:txBody>
          <ns1:bodyPr wrap="square">
            <ns1:spAutoFit/>
          </ns1:bodyPr>
          <ns1:lstStyle/>
          <ns1:p>
            <ns1:pPr algn="l"/>
            <ns1:r>
              <ns1:rPr sz="1020" b="0">
                <ns1:solidFill>
                  <ns1:srgbClr val="606770"/>
                </ns1:solidFill>
                <ns1:latin typeface="微软雅黑" panose="020B0503020204020204" charset="-122"/>
              </ns1:rPr>
              <ns1:t>公开资料显示方向高度聚焦图计算系统</ns1:t>
            </ns1:r>
            <ns1:endParaRPr sz="1020" b="0">
              <ns1:solidFill>
                <ns1:srgbClr val="606770"/>
              </ns1:solidFill>
              <ns1:latin typeface="微软雅黑" panose="020B0503020204020204" charset="-122"/>
            </ns1:endParaRPr>
          </ns1:p>
        </ns0:txBody>
      </ns0:sp>
      <ns0:sp>
        <ns0:nvSpPr>
          <ns0:cNvPr id="9" name="Rounded Rectangle 8"/>
          <ns0:cNvSpPr/>
          <ns0:nvPr/>
        </ns0:nvSpPr>
        <ns0:spPr>
          <ns1:xfrm>
            <ns1:off x="822960" y="1298448"/>
            <ns1:ext cx="5349240" cy="2240280"/>
          </ns1:xfrm>
          <ns1:prstGeom prst="roundRect">
            <ns1:avLst/>
          </ns1:prstGeom>
          <ns1:solidFill>
            <ns1:srgbClr val="FFFFFF"/>
          </ns1:solidFill>
          <ns1:ln w="12700">
            <ns1:solidFill>
              <ns1:srgbClr val="EAF0F8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  <ns0:sp>
        <ns0:nvSpPr>
          <ns0:cNvPr id="10" name="Rectangle 9"/>
          <ns0:cNvSpPr/>
          <ns0:nvPr/>
        </ns0:nvSpPr>
        <ns0:spPr>
          <ns1:xfrm>
            <ns1:off x="822960" y="1298448"/>
            <ns1:ext cx="73152" cy="2240280"/>
          </ns1:xfrm>
          <ns1:prstGeom prst="rect">
            <ns1:avLst/>
          </ns1:prstGeom>
          <ns1:solidFill>
            <ns1:srgbClr val="072146"/>
          </ns1:solidFill>
          <ns1:ln>
            <ns1:noFill/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  <ns0:sp>
        <ns0:nvSpPr>
          <ns0:cNvPr id="11" name="TextBox 10"/>
          <ns0:cNvSpPr txBox="1"/>
          <ns0:nvPr/>
        </ns0:nvSpPr>
        <ns0:spPr>
          <ns1:xfrm>
            <ns1:off x="1024128" y="1463039"/>
            <ns1:ext cx="5001768" cy="256032"/>
          </ns1:xfrm>
          <ns1:prstGeom prst="rect">
            <ns1:avLst/>
          </ns1:prstGeom>
          <ns1:noFill/>
        </ns0:spPr>
        <ns0:txBody>
          <ns1:bodyPr wrap="square">
            <ns1:spAutoFit/>
          </ns1:bodyPr>
          <ns1:lstStyle/>
          <ns1:p>
            <ns1:pPr algn="l"/>
            <ns1:r>
              <ns1:rPr sz="1400" b="1">
                <ns1:solidFill>
                  <ns1:srgbClr val="072146"/>
                </ns1:solidFill>
                <ns1:latin typeface="微软雅黑" panose="020B0503020204020204" charset="-122"/>
              </ns1:rPr>
              <ns1:t>对课题组方向的理解</ns1:t>
            </ns1:r>
            <ns1:endParaRPr sz="1400" b="1">
              <ns1:solidFill>
                <ns1:srgbClr val="072146"/>
              </ns1:solidFill>
              <ns1:latin typeface="微软雅黑" panose="020B0503020204020204" charset="-122"/>
            </ns1:endParaRPr>
          </ns1:p>
        </ns0:txBody>
      </ns0:sp>
      <ns0:sp>
        <ns0:nvSpPr>
          <ns0:cNvPr id="12" name="TextBox 11"/>
          <ns0:cNvSpPr txBox="1"/>
          <ns0:nvPr/>
        </ns0:nvSpPr>
        <ns0:spPr>
          <ns1:xfrm>
            <ns1:off x="1024128" y="1828800"/>
            <ns1:ext cx="5001768" cy="1600200"/>
          </ns1:xfrm>
          <ns1:prstGeom prst="rect">
            <ns1:avLst/>
          </ns1:prstGeom>
          <ns1:noFill/>
        </ns0:spPr>
        <ns0:txBody>
          <ns1:bodyPr wrap="square">
            <ns1:spAutoFit/>
          </ns1:bodyPr>
          <ns1:lstStyle/>
          <ns1:p>
            <ns1:pPr>
              <ns1:lnSpc>
                <ns1:spcPct val="95000"/>
              </ns1:lnSpc>
              <ns1:spcAft>
                <ns1:spcPts val="600"/>
              </ns1:spcAft>
            </ns1:pPr>
            <ns1:r>
              <ns1:rPr sz="1100" b="0">
                <ns1:solidFill>
                  <ns1:srgbClr val="262D37"/>
                </ns1:solidFill>
                <ns1:latin typeface="微软雅黑" panose="020B0503020204020204" charset="-122"/>
              </ns1:rPr>
              <ns1:t>大图计算系统：分布式并行加速、动态增量计算、并行计算范式、异构环境计算</ns1:t>
            </ns1:r>
            <ns1:endParaRPr sz="1100" b="0">
              <ns1:solidFill>
                <ns1:srgbClr val="262D37"/>
              </ns1:solidFill>
              <ns1:latin typeface="微软雅黑" panose="020B0503020204020204" charset="-122"/>
            </ns1:endParaRPr>
          </ns1:p>
          <ns1:p>
            <ns1:pPr>
              <ns1:lnSpc>
                <ns1:spcPct val="95000"/>
              </ns1:lnSpc>
              <ns1:spcAft>
                <ns1:spcPts val="600"/>
              </ns1:spcAft>
            </ns1:pPr>
            <ns1:r>
              <ns1:rPr sz="1100" b="0">
                <ns1:solidFill>
                  <ns1:srgbClr val="262D37"/>
                </ns1:solidFill>
                <ns1:latin typeface="微软雅黑" panose="020B0503020204020204" charset="-122"/>
              </ns1:rPr>
              <ns1:t>图神经网络系统：动态增量学习、异构硬件加速、并行计算范式</ns1:t>
            </ns1:r>
            <ns1:endParaRPr sz="1100" b="0">
              <ns1:solidFill>
                <ns1:srgbClr val="262D37"/>
              </ns1:solidFill>
              <ns1:latin typeface="微软雅黑" panose="020B0503020204020204" charset="-122"/>
            </ns1:endParaRPr>
          </ns1:p>
          <ns1:p>
            <ns1:pPr>
              <ns1:lnSpc>
                <ns1:spcPct val="95000"/>
              </ns1:lnSpc>
              <ns1:spcAft>
                <ns1:spcPts val="600"/>
              </ns1:spcAft>
            </ns1:pPr>
            <ns1:r>
              <ns1:rPr sz="1100" b="0">
                <ns1:solidFill>
                  <ns1:srgbClr val="262D37"/>
                </ns1:solidFill>
                <ns1:latin typeface="微软雅黑" panose="020B0503020204020204" charset="-122"/>
              </ns1:rPr>
              <ns1:t>代表作覆盖 ICDE、VLDB、VLDBJ、SIGMOD 等数据库/系统顶级会议与期刊</ns1:t>
            </ns1:r>
            <ns1:endParaRPr sz="1100" b="0">
              <ns1:solidFill>
                <ns1:srgbClr val="262D37"/>
              </ns1:solidFill>
              <ns1:latin typeface="微软雅黑" panose="020B0503020204020204" charset="-122"/>
            </ns1:endParaRPr>
          </ns1:p>
        </ns0:txBody>
      </ns0:sp>
      <ns0:sp>
        <ns0:nvSpPr>
          <ns0:cNvPr id="13" name="Rounded Rectangle 12"/>
          <ns0:cNvSpPr/>
          <ns0:nvPr/>
        </ns0:nvSpPr>
        <ns0:spPr>
          <ns1:xfrm>
            <ns1:off x="6382512" y="1298448"/>
            <ns1:ext cx="4956048" cy="2240280"/>
          </ns1:xfrm>
          <ns1:prstGeom prst="roundRect">
            <ns1:avLst/>
          </ns1:prstGeom>
          <ns1:solidFill>
            <ns1:srgbClr val="FFFFFF"/>
          </ns1:solidFill>
          <ns1:ln w="12700">
            <ns1:solidFill>
              <ns1:srgbClr val="EAF0F8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  <ns0:sp>
        <ns0:nvSpPr>
          <ns0:cNvPr id="14" name="Rectangle 13"/>
          <ns0:cNvSpPr/>
          <ns0:nvPr/>
        </ns0:nvSpPr>
        <ns0:spPr>
          <ns1:xfrm>
            <ns1:off x="6382512" y="1298448"/>
            <ns1:ext cx="73152" cy="2240280"/>
          </ns1:xfrm>
          <ns1:prstGeom prst="rect">
            <ns1:avLst/>
          </ns1:prstGeom>
          <ns1:solidFill>
            <ns1:srgbClr val="D7B169"/>
          </ns1:solidFill>
          <ns1:ln>
            <ns1:noFill/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  <ns0:sp>
        <ns0:nvSpPr>
          <ns0:cNvPr id="15" name="TextBox 14"/>
          <ns0:cNvSpPr txBox="1"/>
          <ns0:nvPr/>
        </ns0:nvSpPr>
        <ns0:spPr>
          <ns1:xfrm>
            <ns1:off x="6583680" y="1463039"/>
            <ns1:ext cx="4608576" cy="256032"/>
          </ns1:xfrm>
          <ns1:prstGeom prst="rect">
            <ns1:avLst/>
          </ns1:prstGeom>
          <ns1:noFill/>
        </ns0:spPr>
        <ns0:txBody>
          <ns1:bodyPr wrap="square">
            <ns1:spAutoFit/>
          </ns1:bodyPr>
          <ns1:lstStyle/>
          <ns1:p>
            <ns1:pPr algn="l"/>
            <ns1:r>
              <ns1:rPr sz="1400" b="1">
                <ns1:solidFill>
                  <ns1:srgbClr val="072146"/>
                </ns1:solidFill>
                <ns1:latin typeface="微软雅黑" panose="020B0503020204020204" charset="-122"/>
              </ns1:rPr>
              <ns1:t>我的契合点</ns1:t>
            </ns1:r>
            <ns1:endParaRPr sz="1400" b="1">
              <ns1:solidFill>
                <ns1:srgbClr val="072146"/>
              </ns1:solidFill>
              <ns1:latin typeface="微软雅黑" panose="020B0503020204020204" charset="-122"/>
            </ns1:endParaRPr>
          </ns1:p>
        </ns0:txBody>
      </ns0:sp>
      <ns0:sp>
        <ns0:nvSpPr>
          <ns0:cNvPr id="16" name="TextBox 15"/>
          <ns0:cNvSpPr txBox="1"/>
          <ns0:nvPr/>
        </ns0:nvSpPr>
        <ns0:spPr>
          <ns1:xfrm>
            <ns1:off x="6583680" y="1828800"/>
            <ns1:ext cx="4608576" cy="1600200"/>
          </ns1:xfrm>
          <ns1:prstGeom prst="rect">
            <ns1:avLst/>
          </ns1:prstGeom>
          <ns1:noFill/>
        </ns0:spPr>
        <ns0:txBody>
          <ns1:bodyPr wrap="square">
            <ns1:spAutoFit/>
          </ns1:bodyPr>
          <ns1:lstStyle/>
          <ns1:p>
            <ns1:pPr>
              <ns1:lnSpc>
                <ns1:spcPct val="95000"/>
              </ns1:lnSpc>
              <ns1:spcAft>
                <ns1:spcPts val="600"/>
              </ns1:spcAft>
            </ns1:pPr>
            <ns1:r>
              <ns1:rPr sz="1100" b="0">
                <ns1:solidFill>
                  <ns1:srgbClr val="262D37"/>
                </ns1:solidFill>
                <ns1:latin typeface="微软雅黑" panose="020B0503020204020204" charset="-122"/>
              </ns1:rPr>
              <ns1:t>完成 ST-GCN 方法调研和异常事件评测，理解“结构化表示 + 指标验证”的重要性</ns1:t>
            </ns1:r>
            <ns1:endParaRPr sz="1100" b="0">
              <ns1:solidFill>
                <ns1:srgbClr val="262D37"/>
              </ns1:solidFill>
              <ns1:latin typeface="微软雅黑" panose="020B0503020204020204" charset="-122"/>
            </ns1:endParaRPr>
          </ns1:p>
          <ns1:p>
            <ns1:pPr>
              <ns1:lnSpc>
                <ns1:spcPct val="95000"/>
              </ns1:lnSpc>
              <ns1:spcAft>
                <ns1:spcPts val="600"/>
              </ns1:spcAft>
            </ns1:pPr>
            <ns1:r>
              <ns1:rPr sz="1100" b="0">
                <ns1:solidFill>
                  <ns1:srgbClr val="262D37"/>
                </ns1:solidFill>
                <ns1:latin typeface="微软雅黑" panose="020B0503020204020204" charset="-122"/>
              </ns1:rPr>
              <ns1:t>完成本地 RAG 检索和 GraphRAG 思路探索，愿意继续往图结构知识与图系统方向深入</ns1:t>
            </ns1:r>
            <ns1:endParaRPr sz="1100" b="0">
              <ns1:solidFill>
                <ns1:srgbClr val="262D37"/>
              </ns1:solidFill>
              <ns1:latin typeface="微软雅黑" panose="020B0503020204020204" charset="-122"/>
            </ns1:endParaRPr>
          </ns1:p>
          <ns1:p>
            <ns1:pPr>
              <ns1:lnSpc>
                <ns1:spcPct val="95000"/>
              </ns1:lnSpc>
              <ns1:spcAft>
                <ns1:spcPts val="600"/>
              </ns1:spcAft>
            </ns1:pPr>
            <ns1:r>
              <ns1:rPr sz="1100" b="0">
                <ns1:solidFill>
                  <ns1:srgbClr val="262D37"/>
                </ns1:solidFill>
                <ns1:latin typeface="微软雅黑" panose="020B0503020204020204" charset="-122"/>
              </ns1:rPr>
              <ns1:t>有 C++ / Python / Java 基础和项目负责人经历，能从复现、实验和工程实现做起</ns1:t>
            </ns1:r>
            <ns1:endParaRPr sz="1100" b="0">
              <ns1:solidFill>
                <ns1:srgbClr val="262D37"/>
              </ns1:solidFill>
              <ns1:latin typeface="微软雅黑" panose="020B0503020204020204" charset="-122"/>
            </ns1:endParaRPr>
          </ns1:p>
        </ns0:txBody>
      </ns0:sp>
      <ns0:sp>
        <ns0:nvSpPr>
          <ns0:cNvPr id="17" name="Rounded Rectangle 16"/>
          <ns0:cNvSpPr/>
          <ns0:nvPr/>
        </ns0:nvSpPr>
        <ns0:spPr>
          <ns1:xfrm>
            <ns1:off x="914400" y="3968496"/>
            <ns1:ext cx="10287000" cy="877824"/>
          </ns1:xfrm>
          <ns1:prstGeom prst="roundRect">
            <ns1:avLst/>
          </ns1:prstGeom>
          <ns1:solidFill>
            <ns1:srgbClr val="072146"/>
          </ns1:solidFill>
          <ns1:ln>
            <ns1:noFill/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  <ns0:sp>
        <ns0:nvSpPr>
          <ns0:cNvPr id="18" name="TextBox 17"/>
          <ns0:cNvSpPr txBox="1"/>
          <ns0:nvPr/>
        </ns0:nvSpPr>
        <ns0:spPr>
          <ns1:xfrm>
            <ns1:off x="1225296" y="4187952"/>
            <ns1:ext cx="9646920" cy="329184"/>
          </ns1:xfrm>
          <ns1:prstGeom prst="rect">
            <ns1:avLst/>
          </ns1:prstGeom>
          <ns1:noFill/>
        </ns0:spPr>
        <ns0:txBody>
          <ns1:bodyPr wrap="square" anchor="ctr">
            <ns1:spAutoFit/>
          </ns1:bodyPr>
          <ns1:lstStyle/>
          <ns1:p>
            <ns1:pPr algn="ctr"/>
            <ns1:r>
              <ns1:rPr sz="1320" b="0">
                <ns1:solidFill>
                  <ns1:srgbClr val="FFFFFF"/>
                </ns1:solidFill>
                <ns1:latin typeface="微软雅黑" panose="020B0503020204020204" charset="-122"/>
              </ns1:rPr>
              <ns1:t>我希望进入课题组后，先扎实提升图算法、并行计算和系统实验能力，再结合多模态异常理解与可信评测中的经验，探索动态图/GNN系统在真实智能场景中的效率与可靠性问题。</ns1:t>
            </ns1:r>
            <ns1:endParaRPr sz="1320" b="0">
              <ns1:solidFill>
                <ns1:srgbClr val="FFFFFF"/>
              </ns1:solidFill>
              <ns1:latin typeface="微软雅黑" panose="020B0503020204020204" charset="-122"/>
            </ns1:endParaRPr>
          </ns1:p>
        </ns0:txBody>
      </ns0:sp>
      <ns0:sp>
        <ns0:nvSpPr>
          <ns0:cNvPr id="19" name="Rounded Rectangle 18"/>
          <ns0:cNvSpPr/>
          <ns0:nvPr/>
        </ns0:nvSpPr>
        <ns0:spPr>
          <ns1:xfrm>
            <ns1:off x="914400" y="5138928"/>
            <ns1:ext cx="10287000" cy="502920"/>
          </ns1:xfrm>
          <ns1:prstGeom prst="roundRect">
            <ns1:avLst/>
          </ns1:prstGeom>
          <ns1:solidFill>
            <ns1:srgbClr val="F7F8FA"/>
          </ns1:solidFill>
          <ns1:ln w="12700">
            <ns1:solidFill>
              <ns1:srgbClr val="EAF0F8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  <ns0:sp>
        <ns0:nvSpPr>
          <ns0:cNvPr id="20" name="TextBox 19"/>
          <ns0:cNvSpPr txBox="1"/>
          <ns0:nvPr/>
        </ns0:nvSpPr>
        <ns0:spPr>
          <ns1:xfrm>
            <ns1:off x="1152144" y="5285232"/>
            <ns1:ext cx="9829800" cy="182880"/>
          </ns1:xfrm>
          <ns1:prstGeom prst="rect">
            <ns1:avLst/>
          </ns1:prstGeom>
          <ns1:noFill/>
        </ns0:spPr>
        <ns0:txBody>
          <ns1:bodyPr wrap="square">
            <ns1:spAutoFit/>
          </ns1:bodyPr>
          <ns1:lstStyle/>
          <ns1:p>
            <ns1:pPr algn="ctr"/>
            <ns1:r>
              <ns1:rPr sz="1210" b="1">
                <ns1:solidFill>
                  <ns1:srgbClr val="072146"/>
                </ns1:solidFill>
                <ns1:latin typeface="微软雅黑" panose="020B0503020204020204" charset="-122"/>
              </ns1:rPr>
              <ns1:t>入组后的切入方式：代表作阅读、代码复现、实验记录、基础图算法 baseline，并逐步承担更完整的系统实验与模块实现。</ns1:t>
            </ns1:r>
            <ns1:endParaRPr sz="1210" b="1">
              <ns1:solidFill>
                <ns1:srgbClr val="072146"/>
              </ns1:solidFill>
              <ns1:latin typeface="微软雅黑" panose="020B0503020204020204" charset="-122"/>
            </ns1:endParaRPr>
          </ns1:p>
        </ns0:txBody>
      </ns0:sp>
      <ns0:sp>
        <ns0:nvSpPr>
          <ns0:cNvPr id="21" name="Rectangle 20"/>
          <ns0:cNvSpPr/>
          <ns0:nvPr/>
        </ns0:nvSpPr>
        <ns0:spPr>
          <ns1:xfrm>
            <ns1:off x="594360" y="6464808"/>
            <ns1:ext cx="10991088" cy="146304"/>
          </ns1:xfrm>
          <ns1:prstGeom prst="rect">
            <ns1:avLst/>
          </ns1:prstGeom>
          <ns1:solidFill>
            <ns1:srgbClr val="072146"/>
          </ns1:solidFill>
          <ns1:ln>
            <ns1:noFill/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  <ns0:sp>
        <ns0:nvSpPr>
          <ns0:cNvPr id="22" name="TextBox 21"/>
          <ns0:cNvSpPr txBox="1"/>
          <ns0:nvPr/>
        </ns0:nvSpPr>
        <ns0:spPr>
          <ns1:xfrm>
            <ns1:off x="777240" y="6478524"/>
            <ns1:ext cx="10607040" cy="128016"/>
          </ns1:xfrm>
          <ns1:prstGeom prst="rect">
            <ns1:avLst/>
          </ns1:prstGeom>
          <ns1:noFill/>
        </ns0:spPr>
        <ns0:txBody>
          <ns1:bodyPr wrap="square" anchor="ctr">
            <ns1:spAutoFit/>
          </ns1:bodyPr>
          <ns1:lstStyle/>
          <ns1:p>
            <ns1:pPr algn="ctr"/>
            <ns1:r>
              <ns1:rPr sz="650" b="0">
                <ns1:solidFill>
                  <ns1:srgbClr val="EEDAA6"/>
                </ns1:solidFill>
                <ns1:latin typeface="微软雅黑" panose="020B0503020204020204" charset="-122"/>
              </ns1:rPr>
              <ns1:t>&gt;&gt;&gt;&gt;&gt;&gt; 教育背景 · 科研经历 · 思考总结 · 未来规划 &lt;&lt;&lt;&lt;&lt;&lt;</ns1:t>
            </ns1:r>
            <ns1:endParaRPr sz="650" b="0">
              <ns1:solidFill>
                <ns1:srgbClr val="EEDAA6"/>
              </ns1:solidFill>
              <ns1:latin typeface="微软雅黑" panose="020B0503020204020204" charset="-122"/>
            </ns1:endParaRPr>
          </ns1:p>
        </ns0:txBody>
      </ns0:sp>
    </ns0:spTree>
  </ns0:cSld>
  <ns0:clrMapOvr>
    <ns1:masterClrMapping/>
  </ns0:clrMapOvr>
</ns0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21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75488" y="438912"/>
            <a:ext cx="11228832" cy="5961888"/>
          </a:xfrm>
          <a:prstGeom prst="rect">
            <a:avLst/>
          </a:prstGeom>
          <a:solidFill>
            <a:srgbClr val="072146"/>
          </a:solidFill>
          <a:ln w="12700">
            <a:solidFill>
              <a:srgbClr val="D7B1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023360" y="1325880"/>
            <a:ext cx="4206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>
                <a:solidFill>
                  <a:srgbClr val="486491"/>
                </a:solidFill>
                <a:latin typeface="微软雅黑" panose="020B0503020204020204" charset="-122"/>
              </a:rPr>
              <a:t>THANKS</a:t>
            </a:r>
            <a:endParaRPr sz="4200" b="1">
              <a:solidFill>
                <a:srgbClr val="486491"/>
              </a:solidFill>
              <a:latin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3246120" y="2212848"/>
            <a:ext cx="5669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EEDAA6"/>
                </a:solidFill>
                <a:latin typeface="微软雅黑" panose="020B0503020204020204" charset="-122"/>
              </a:rPr>
              <a:t>介绍完毕</a:t>
            </a:r>
            <a:endParaRPr sz="3600" b="1">
              <a:solidFill>
                <a:srgbClr val="EEDAA6"/>
              </a:solidFill>
              <a:latin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2880360" y="2852928"/>
            <a:ext cx="640080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  <a:latin typeface="微软雅黑" panose="020B0503020204020204" charset="-122"/>
              </a:rPr>
              <a:t>恳请老师批评指正</a:t>
            </a:r>
            <a:endParaRPr sz="32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337560" y="3566160"/>
            <a:ext cx="5486400" cy="32004"/>
          </a:xfrm>
          <a:prstGeom prst="rect">
            <a:avLst/>
          </a:prstGeom>
          <a:solidFill>
            <a:srgbClr val="D7B1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74519" y="4069080"/>
            <a:ext cx="8366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0">
                <a:solidFill>
                  <a:srgbClr val="EEDAA6"/>
                </a:solidFill>
                <a:latin typeface="微软雅黑" panose="020B0503020204020204" charset="-122"/>
              </a:rPr>
              <a:t>娄有杰｜兰州理工大学 软件工程｜yi05up11@163.com｜155-1611-0836</a:t>
            </a:r>
            <a:endParaRPr sz="1250" b="0">
              <a:solidFill>
                <a:srgbClr val="EEDAA6"/>
              </a:solidFill>
              <a:latin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920240" y="4736592"/>
            <a:ext cx="8321040" cy="2990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sz="1350" b="0">
                <a:solidFill>
                  <a:srgbClr val="FFFFFF"/>
                </a:solidFill>
                <a:latin typeface="微软雅黑" panose="020B0503020204020204" charset="-122"/>
              </a:rPr>
              <a:t>非常</a:t>
            </a:r>
            <a:r>
              <a:rPr sz="1350" b="0">
                <a:solidFill>
                  <a:srgbClr val="FFFFFF"/>
                </a:solidFill>
                <a:latin typeface="微软雅黑" panose="020B0503020204020204" charset="-122"/>
              </a:rPr>
              <a:t>希望未来能有机会在许老师指导下，接受更系统的图计算与智能系统科研训练</a:t>
            </a:r>
            <a:r>
              <a:rPr lang="zh-CN" sz="1350" b="0">
                <a:solidFill>
                  <a:srgbClr val="FFFFFF"/>
                </a:solidFill>
                <a:latin typeface="微软雅黑" panose="020B0503020204020204" charset="-122"/>
              </a:rPr>
              <a:t>！</a:t>
            </a:r>
            <a:endParaRPr lang="zh-CN" sz="1350" b="0">
              <a:solidFill>
                <a:srgbClr val="FFFFFF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322.92,&quot;left&quot;:270,&quot;top&quot;:92.16,&quot;width&quot;:572.4}"/>
</p:tagLst>
</file>

<file path=ppt/tags/tag2.xml><?xml version="1.0" encoding="utf-8"?>
<p:tagLst xmlns:p="http://schemas.openxmlformats.org/presentationml/2006/main">
  <p:tag name="KSO_WM_DIAGRAM_VIRTUALLY_FRAME" val="{&quot;height&quot;:322.92,&quot;left&quot;:270,&quot;top&quot;:92.16,&quot;width&quot;:572.4}"/>
</p:tagLst>
</file>

<file path=ppt/tags/tag3.xml><?xml version="1.0" encoding="utf-8"?>
<p:tagLst xmlns:p="http://schemas.openxmlformats.org/presentationml/2006/main">
  <p:tag name="KSO_WM_DIAGRAM_VIRTUALLY_FRAME" val="{&quot;height&quot;:322.92,&quot;left&quot;:270,&quot;top&quot;:92.16,&quot;width&quot;:572.4}"/>
</p:tagLst>
</file>

<file path=ppt/tags/tag4.xml><?xml version="1.0" encoding="utf-8"?>
<p:tagLst xmlns:p="http://schemas.openxmlformats.org/presentationml/2006/main">
  <p:tag name="KSO_WM_DIAGRAM_VIRTUALLY_FRAME" val="{&quot;height&quot;:322.92,&quot;left&quot;:270,&quot;top&quot;:92.16,&quot;width&quot;:572.4}"/>
</p:tagLst>
</file>

<file path=ppt/tags/tag5.xml><?xml version="1.0" encoding="utf-8"?>
<p:tagLst xmlns:p="http://schemas.openxmlformats.org/presentationml/2006/main">
  <p:tag name="KSO_WM_DIAGRAM_VIRTUALLY_FRAME" val="{&quot;height&quot;:322.92,&quot;left&quot;:270,&quot;top&quot;:92.16,&quot;width&quot;:572.4}"/>
</p:tagLst>
</file>

<file path=ppt/tags/tag6.xml><?xml version="1.0" encoding="utf-8"?>
<p:tagLst xmlns:p="http://schemas.openxmlformats.org/presentationml/2006/main">
  <p:tag name="KSO_WM_DIAGRAM_VIRTUALLY_FRAME" val="{&quot;height&quot;:322.92,&quot;left&quot;:270,&quot;top&quot;:92.16,&quot;width&quot;:572.4}"/>
</p:tagLst>
</file>

<file path=ppt/tags/tag7.xml><?xml version="1.0" encoding="utf-8"?>
<p:tagLst xmlns:p="http://schemas.openxmlformats.org/presentationml/2006/main">
  <p:tag name="KSO_WM_DIAGRAM_VIRTUALLY_FRAME" val="{&quot;height&quot;:322.92,&quot;left&quot;:270,&quot;top&quot;:92.16,&quot;width&quot;:572.4}"/>
</p:tagLst>
</file>

<file path=ppt/tags/tag8.xml><?xml version="1.0" encoding="utf-8"?>
<p:tagLst xmlns:p="http://schemas.openxmlformats.org/presentationml/2006/main">
  <p:tag name="KSO_WM_DIAGRAM_VIRTUALLY_FRAME" val="{&quot;height&quot;:322.92,&quot;left&quot;:270,&quot;top&quot;:92.16,&quot;width&quot;:572.4}"/>
</p:tagLst>
</file>

<file path=ppt/tags/tag9.xml><?xml version="1.0" encoding="utf-8"?>
<p:tagLst xmlns:p="http://schemas.openxmlformats.org/presentationml/2006/main">
  <p:tag name="KSO_WM_DIAGRAM_VIRTUALLY_FRAME" val="{&quot;height&quot;:322.92,&quot;left&quot;:270,&quot;top&quot;:92.16,&quot;width&quot;:572.4}"/>
</p:tagLst>
</file>

<file path=ppt/tags/tag10.xml><?xml version="1.0" encoding="utf-8"?>
<p:tagLst xmlns:p="http://schemas.openxmlformats.org/presentationml/2006/main">
  <p:tag name="KSO_WM_DIAGRAM_VIRTUALLY_FRAME" val="{&quot;height&quot;:322.92,&quot;left&quot;:270,&quot;top&quot;:92.16,&quot;width&quot;:572.4}"/>
</p:tagLst>
</file>

<file path=ppt/tags/tag11.xml><?xml version="1.0" encoding="utf-8"?>
<p:tagLst xmlns:p="http://schemas.openxmlformats.org/presentationml/2006/main">
  <p:tag name="KSO_WM_DIAGRAM_VIRTUALLY_FRAME" val="{&quot;height&quot;:322.92,&quot;left&quot;:270,&quot;top&quot;:92.16,&quot;width&quot;:572.4}"/>
</p:tagLst>
</file>

<file path=ppt/tags/tag12.xml><?xml version="1.0" encoding="utf-8"?>
<p:tagLst xmlns:p="http://schemas.openxmlformats.org/presentationml/2006/main">
  <p:tag name="KSO_WM_DIAGRAM_VIRTUALLY_FRAME" val="{&quot;height&quot;:322.92,&quot;left&quot;:270,&quot;top&quot;:92.16,&quot;width&quot;:572.4}"/>
</p:tagLst>
</file>

<file path=ppt/tags/tag13.xml><?xml version="1.0" encoding="utf-8"?>
<p:tagLst xmlns:p="http://schemas.openxmlformats.org/presentationml/2006/main">
  <p:tag name="KSO_WM_DIAGRAM_VIRTUALLY_FRAME" val="{&quot;height&quot;:322.92,&quot;left&quot;:270,&quot;top&quot;:92.16,&quot;width&quot;:572.4}"/>
</p:tagLst>
</file>

<file path=ppt/tags/tag14.xml><?xml version="1.0" encoding="utf-8"?>
<p:tagLst xmlns:p="http://schemas.openxmlformats.org/presentationml/2006/main">
  <p:tag name="KSO_WM_DIAGRAM_VIRTUALLY_FRAME" val="{&quot;height&quot;:322.92,&quot;left&quot;:270,&quot;top&quot;:92.16,&quot;width&quot;:572.4}"/>
</p:tagLst>
</file>

<file path=ppt/tags/tag15.xml><?xml version="1.0" encoding="utf-8"?>
<p:tagLst xmlns:p="http://schemas.openxmlformats.org/presentationml/2006/main">
  <p:tag name="KSO_WM_DIAGRAM_VIRTUALLY_FRAME" val="{&quot;height&quot;:322.92,&quot;left&quot;:270,&quot;top&quot;:92.16,&quot;width&quot;:572.4}"/>
</p:tagLst>
</file>

<file path=ppt/tags/tag16.xml><?xml version="1.0" encoding="utf-8"?>
<p:tagLst xmlns:p="http://schemas.openxmlformats.org/presentationml/2006/main">
  <p:tag name="KSO_WM_DIAGRAM_VIRTUALLY_FRAME" val="{&quot;height&quot;:322.92,&quot;left&quot;:270,&quot;top&quot;:92.16,&quot;width&quot;:572.4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2606</Words>
  <Application>WPS 演示</Application>
  <PresentationFormat>On-screen Show (4:3)</PresentationFormat>
  <Paragraphs>265</Paragraphs>
  <Slides>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17" baseType="lpstr">
      <vt:lpstr>Arial</vt:lpstr>
      <vt:lpstr>宋体</vt:lpstr>
      <vt:lpstr>Wingdings</vt:lpstr>
      <vt:lpstr>Arial</vt:lpstr>
      <vt:lpstr>微软雅黑</vt:lpstr>
      <vt:lpstr>Calibri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YJie</cp:lastModifiedBy>
  <cp:revision>12</cp:revision>
  <dcterms:created xsi:type="dcterms:W3CDTF">2013-01-27T09:14:00Z</dcterms:created>
  <dcterms:modified xsi:type="dcterms:W3CDTF">2026-06-29T04:26:27Z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9E8E51C049654738B663BA94E125D0D8_12</vt:lpwstr>
  </property>
  <property fmtid="{D5CDD505-2E9C-101B-9397-08002B2CF9AE}" pid="3" name="KSOProductBuildVer">
    <vt:lpwstr>2052-12.1.0.26895</vt:lpwstr>
  </property>
</Properties>
</file>